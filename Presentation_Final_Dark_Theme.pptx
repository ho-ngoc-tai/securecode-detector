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0F1E"/>
    <a:srgbClr val="003366"/>
    <a:srgbClr val="00006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png"/>
          <p:cNvPicPr>
            <a:picLocks noChangeAspect="1"/>
          </p:cNvPicPr>
          <p:nvPr/>
        </p:nvPicPr>
        <p:blipFill>
          <a:blip r:embed="rId2"/>
          <a:stretch>
            <a:fillRect/>
          </a:stretch>
        </p:blipFill>
        <p:spPr>
          <a:xfrm>
            <a:off x="0" y="0"/>
            <a:ext cx="12191999" cy="6858000"/>
          </a:xfrm>
          <a:prstGeom prst="rect">
            <a:avLst/>
          </a:prstGeom>
          <a:effectLst>
            <a:outerShdw blurRad="50800" dist="38100" dir="10800000" algn="r" rotWithShape="0">
              <a:prstClr val="black">
                <a:alpha val="40000"/>
              </a:prstClr>
            </a:outerShdw>
          </a:effectLst>
        </p:spPr>
      </p:pic>
      <p:sp>
        <p:nvSpPr>
          <p:cNvPr id="3" name="Rectangle 2"/>
          <p:cNvSpPr/>
          <p:nvPr/>
        </p:nvSpPr>
        <p:spPr>
          <a:xfrm>
            <a:off x="4127499" y="1523999"/>
            <a:ext cx="9207499" cy="2603500"/>
          </a:xfrm>
          <a:prstGeom prst="rect">
            <a:avLst/>
          </a:prstGeom>
          <a:solidFill>
            <a:srgbClr val="06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127499" y="5080000"/>
            <a:ext cx="6032499" cy="761999"/>
          </a:xfrm>
          <a:prstGeom prst="rect">
            <a:avLst/>
          </a:prstGeom>
          <a:solidFill>
            <a:srgbClr val="06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02499" y="5080000"/>
            <a:ext cx="3174999" cy="761999"/>
          </a:xfrm>
          <a:prstGeom prst="rect">
            <a:avLst/>
          </a:prstGeom>
          <a:solidFill>
            <a:srgbClr val="06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444999" y="2049502"/>
            <a:ext cx="8572499" cy="1107996"/>
          </a:xfrm>
          <a:prstGeom prst="rect">
            <a:avLst/>
          </a:prstGeom>
          <a:noFill/>
          <a:effectLst>
            <a:glow rad="139700">
              <a:schemeClr val="accent4">
                <a:satMod val="175000"/>
                <a:alpha val="42000"/>
              </a:schemeClr>
            </a:glow>
            <a:outerShdw blurRad="50800" dist="38100" sx="106000" sy="106000" algn="l" rotWithShape="0">
              <a:prstClr val="black">
                <a:alpha val="39000"/>
              </a:prstClr>
            </a:outerShdw>
            <a:reflection blurRad="6350" stA="52000" endA="300" endPos="35000" dir="5400000" sy="-100000" algn="bl" rotWithShape="0"/>
            <a:softEdge rad="12700"/>
          </a:effectLst>
          <a:scene3d>
            <a:camera prst="orthographicFront"/>
            <a:lightRig rig="threePt" dir="t"/>
          </a:scene3d>
          <a:sp3d prstMaterial="matte">
            <a:bevelT prst="angle"/>
          </a:sp3d>
        </p:spPr>
        <p:txBody>
          <a:bodyPr wrap="square" lIns="0" tIns="0" rIns="0" bIns="0" anchor="ctr">
            <a:spAutoFit/>
            <a:sp3d prstMaterial="matte"/>
          </a:bodyPr>
          <a:lstStyle/>
          <a:p>
            <a:pPr algn="l"/>
            <a:r>
              <a:rPr sz="3600" b="1" dirty="0">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pattFill prst="pct5">
                  <a:fgClr>
                    <a:srgbClr val="F8F9FC"/>
                  </a:fgClr>
                  <a:bgClr>
                    <a:schemeClr val="bg1"/>
                  </a:bgClr>
                </a:pattFill>
                <a:effectLst>
                  <a:glow rad="63500">
                    <a:schemeClr val="accent1">
                      <a:satMod val="175000"/>
                      <a:alpha val="46000"/>
                    </a:schemeClr>
                  </a:glow>
                  <a:outerShdw blurRad="50800" dist="38100" dir="10800000" algn="r" rotWithShape="0">
                    <a:prstClr val="black">
                      <a:alpha val="40000"/>
                    </a:prstClr>
                  </a:outerShdw>
                </a:effectLst>
                <a:latin typeface="Arial"/>
              </a:rPr>
              <a:t>Thông tin </a:t>
            </a:r>
            <a:r>
              <a:rPr sz="3600" b="1" dirty="0" err="1">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pattFill prst="pct5">
                  <a:fgClr>
                    <a:srgbClr val="F8F9FC"/>
                  </a:fgClr>
                  <a:bgClr>
                    <a:schemeClr val="bg1"/>
                  </a:bgClr>
                </a:pattFill>
                <a:effectLst>
                  <a:glow rad="63500">
                    <a:schemeClr val="accent1">
                      <a:satMod val="175000"/>
                      <a:alpha val="46000"/>
                    </a:schemeClr>
                  </a:glow>
                  <a:outerShdw blurRad="50800" dist="38100" dir="10800000" algn="r" rotWithShape="0">
                    <a:prstClr val="black">
                      <a:alpha val="40000"/>
                    </a:prstClr>
                  </a:outerShdw>
                </a:effectLst>
                <a:latin typeface="Arial"/>
              </a:rPr>
              <a:t>hệ</a:t>
            </a:r>
            <a:r>
              <a:rPr sz="3600" b="1" dirty="0">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pattFill prst="pct5">
                  <a:fgClr>
                    <a:srgbClr val="F8F9FC"/>
                  </a:fgClr>
                  <a:bgClr>
                    <a:schemeClr val="bg1"/>
                  </a:bgClr>
                </a:pattFill>
                <a:effectLst>
                  <a:glow rad="63500">
                    <a:schemeClr val="accent1">
                      <a:satMod val="175000"/>
                      <a:alpha val="46000"/>
                    </a:schemeClr>
                  </a:glow>
                  <a:outerShdw blurRad="50800" dist="38100" dir="10800000" algn="r" rotWithShape="0">
                    <a:prstClr val="black">
                      <a:alpha val="40000"/>
                    </a:prstClr>
                  </a:outerShdw>
                </a:effectLst>
                <a:latin typeface="Arial"/>
              </a:rPr>
              <a:t>
</a:t>
            </a:r>
            <a:r>
              <a:rPr sz="3600" b="1" dirty="0" err="1">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pattFill prst="pct5">
                  <a:fgClr>
                    <a:srgbClr val="F8F9FC"/>
                  </a:fgClr>
                  <a:bgClr>
                    <a:schemeClr val="bg1"/>
                  </a:bgClr>
                </a:pattFill>
                <a:effectLst>
                  <a:glow rad="63500">
                    <a:schemeClr val="accent1">
                      <a:satMod val="175000"/>
                      <a:alpha val="46000"/>
                    </a:schemeClr>
                  </a:glow>
                  <a:outerShdw blurRad="50800" dist="38100" dir="10800000" algn="r" rotWithShape="0">
                    <a:prstClr val="black">
                      <a:alpha val="40000"/>
                    </a:prstClr>
                  </a:outerShdw>
                </a:effectLst>
                <a:latin typeface="Arial"/>
              </a:rPr>
              <a:t>thống</a:t>
            </a:r>
            <a:r>
              <a:rPr sz="3600" b="1" dirty="0">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pattFill prst="pct5">
                  <a:fgClr>
                    <a:srgbClr val="F8F9FC"/>
                  </a:fgClr>
                  <a:bgClr>
                    <a:schemeClr val="bg1"/>
                  </a:bgClr>
                </a:pattFill>
                <a:effectLst>
                  <a:glow rad="63500">
                    <a:schemeClr val="accent1">
                      <a:satMod val="175000"/>
                      <a:alpha val="46000"/>
                    </a:schemeClr>
                  </a:glow>
                  <a:outerShdw blurRad="50800" dist="38100" dir="10800000" algn="r" rotWithShape="0">
                    <a:prstClr val="black">
                      <a:alpha val="40000"/>
                    </a:prstClr>
                  </a:outerShdw>
                </a:effectLst>
                <a:latin typeface="Arial"/>
              </a:rPr>
              <a:t> </a:t>
            </a:r>
            <a:r>
              <a:rPr sz="3600" b="1" dirty="0" err="1">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pattFill prst="pct5">
                  <a:fgClr>
                    <a:srgbClr val="F8F9FC"/>
                  </a:fgClr>
                  <a:bgClr>
                    <a:schemeClr val="bg1"/>
                  </a:bgClr>
                </a:pattFill>
                <a:effectLst>
                  <a:glow rad="63500">
                    <a:schemeClr val="accent1">
                      <a:satMod val="175000"/>
                      <a:alpha val="46000"/>
                    </a:schemeClr>
                  </a:glow>
                  <a:outerShdw blurRad="50800" dist="38100" dir="10800000" algn="r" rotWithShape="0">
                    <a:prstClr val="black">
                      <a:alpha val="40000"/>
                    </a:prstClr>
                  </a:outerShdw>
                </a:effectLst>
                <a:latin typeface="Arial"/>
              </a:rPr>
              <a:t>bảo</a:t>
            </a:r>
            <a:r>
              <a:rPr sz="3600" b="1" dirty="0">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pattFill prst="pct5">
                  <a:fgClr>
                    <a:srgbClr val="F8F9FC"/>
                  </a:fgClr>
                  <a:bgClr>
                    <a:schemeClr val="bg1"/>
                  </a:bgClr>
                </a:pattFill>
                <a:effectLst>
                  <a:glow rad="63500">
                    <a:schemeClr val="accent1">
                      <a:satMod val="175000"/>
                      <a:alpha val="46000"/>
                    </a:schemeClr>
                  </a:glow>
                  <a:outerShdw blurRad="50800" dist="38100" dir="10800000" algn="r" rotWithShape="0">
                    <a:prstClr val="black">
                      <a:alpha val="40000"/>
                    </a:prstClr>
                  </a:outerShdw>
                </a:effectLst>
                <a:latin typeface="Arial"/>
              </a:rPr>
              <a:t> </a:t>
            </a:r>
            <a:r>
              <a:rPr sz="3600" b="1" dirty="0" err="1">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pattFill prst="pct5">
                  <a:fgClr>
                    <a:srgbClr val="F8F9FC"/>
                  </a:fgClr>
                  <a:bgClr>
                    <a:schemeClr val="bg1"/>
                  </a:bgClr>
                </a:pattFill>
                <a:effectLst>
                  <a:glow rad="63500">
                    <a:schemeClr val="accent1">
                      <a:satMod val="175000"/>
                      <a:alpha val="46000"/>
                    </a:schemeClr>
                  </a:glow>
                  <a:outerShdw blurRad="50800" dist="38100" dir="10800000" algn="r" rotWithShape="0">
                    <a:prstClr val="black">
                      <a:alpha val="40000"/>
                    </a:prstClr>
                  </a:outerShdw>
                </a:effectLst>
                <a:latin typeface="Arial"/>
              </a:rPr>
              <a:t>mật</a:t>
            </a:r>
            <a:endParaRPr sz="3600" b="1" dirty="0">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pattFill prst="pct5">
                <a:fgClr>
                  <a:srgbClr val="F8F9FC"/>
                </a:fgClr>
                <a:bgClr>
                  <a:schemeClr val="bg1"/>
                </a:bgClr>
              </a:pattFill>
              <a:effectLst>
                <a:glow rad="63500">
                  <a:schemeClr val="accent1">
                    <a:satMod val="175000"/>
                    <a:alpha val="46000"/>
                  </a:schemeClr>
                </a:glow>
                <a:outerShdw blurRad="50800" dist="38100" dir="10800000" algn="r" rotWithShape="0">
                  <a:prstClr val="black">
                    <a:alpha val="40000"/>
                  </a:prstClr>
                </a:outerShdw>
              </a:effectLst>
              <a:latin typeface="Arial"/>
            </a:endParaRPr>
          </a:p>
        </p:txBody>
      </p:sp>
      <p:sp>
        <p:nvSpPr>
          <p:cNvPr id="7" name="TextBox 6"/>
          <p:cNvSpPr txBox="1"/>
          <p:nvPr/>
        </p:nvSpPr>
        <p:spPr>
          <a:xfrm>
            <a:off x="4444999" y="5334000"/>
            <a:ext cx="2730499" cy="349250"/>
          </a:xfrm>
          <a:prstGeom prst="rect">
            <a:avLst/>
          </a:prstGeom>
          <a:noFill/>
        </p:spPr>
        <p:txBody>
          <a:bodyPr wrap="square" lIns="0" tIns="0" rIns="0" bIns="0" anchor="ctr">
            <a:spAutoFit/>
          </a:bodyPr>
          <a:lstStyle/>
          <a:p>
            <a:pPr algn="l"/>
            <a:r>
              <a:rPr sz="1700" b="0">
                <a:solidFill>
                  <a:srgbClr val="F8F9FC"/>
                </a:solidFill>
                <a:latin typeface="Arial"/>
              </a:rPr>
              <a:t>Người thuyết trình</a:t>
            </a:r>
          </a:p>
        </p:txBody>
      </p:sp>
      <p:sp>
        <p:nvSpPr>
          <p:cNvPr id="8" name="TextBox 7"/>
          <p:cNvSpPr txBox="1"/>
          <p:nvPr/>
        </p:nvSpPr>
        <p:spPr>
          <a:xfrm>
            <a:off x="7556499" y="5334000"/>
            <a:ext cx="1904999" cy="349250"/>
          </a:xfrm>
          <a:prstGeom prst="rect">
            <a:avLst/>
          </a:prstGeom>
          <a:noFill/>
        </p:spPr>
        <p:txBody>
          <a:bodyPr wrap="square" lIns="0" tIns="0" rIns="0" bIns="0" anchor="ctr">
            <a:spAutoFit/>
          </a:bodyPr>
          <a:lstStyle/>
          <a:p>
            <a:pPr algn="l"/>
            <a:r>
              <a:rPr sz="1700" b="0">
                <a:solidFill>
                  <a:srgbClr val="F8F9FC"/>
                </a:solidFill>
                <a:latin typeface="Arial"/>
              </a:rPr>
              <a:t>Gamma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761999" y="825499"/>
            <a:ext cx="3682999" cy="952500"/>
          </a:xfrm>
          <a:prstGeom prst="rect">
            <a:avLst/>
          </a:prstGeom>
          <a:solidFill>
            <a:srgbClr val="06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88999" y="1809750"/>
            <a:ext cx="3809999" cy="793750"/>
          </a:xfrm>
          <a:prstGeom prst="rect">
            <a:avLst/>
          </a:prstGeom>
          <a:solidFill>
            <a:srgbClr val="06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1999" y="1809750"/>
            <a:ext cx="3174999" cy="793750"/>
          </a:xfrm>
          <a:prstGeom prst="rect">
            <a:avLst/>
          </a:prstGeom>
          <a:solidFill>
            <a:srgbClr val="06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88999" y="3143250"/>
            <a:ext cx="4317999" cy="1111250"/>
          </a:xfrm>
          <a:prstGeom prst="rect">
            <a:avLst/>
          </a:prstGeom>
          <a:solidFill>
            <a:srgbClr val="06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1999" y="3143250"/>
            <a:ext cx="3555999" cy="1111250"/>
          </a:xfrm>
          <a:prstGeom prst="rect">
            <a:avLst/>
          </a:prstGeom>
          <a:solidFill>
            <a:srgbClr val="06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88999" y="4572000"/>
            <a:ext cx="4127499" cy="698500"/>
          </a:xfrm>
          <a:prstGeom prst="rect">
            <a:avLst/>
          </a:prstGeom>
          <a:solidFill>
            <a:srgbClr val="06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1999" y="4572000"/>
            <a:ext cx="2730499" cy="698500"/>
          </a:xfrm>
          <a:prstGeom prst="rect">
            <a:avLst/>
          </a:prstGeom>
          <a:solidFill>
            <a:srgbClr val="06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52499" y="984250"/>
            <a:ext cx="3301999" cy="476250"/>
          </a:xfrm>
          <a:prstGeom prst="rect">
            <a:avLst/>
          </a:prstGeom>
          <a:noFill/>
        </p:spPr>
        <p:txBody>
          <a:bodyPr wrap="square" lIns="0" tIns="0" rIns="0" bIns="0" anchor="ctr">
            <a:spAutoFit/>
          </a:bodyPr>
          <a:lstStyle/>
          <a:p>
            <a:pPr algn="l"/>
            <a:r>
              <a:rPr sz="3400" b="1">
                <a:solidFill>
                  <a:srgbClr val="F8F9FC"/>
                </a:solidFill>
                <a:latin typeface="Arial"/>
              </a:rPr>
              <a:t>Danh mục</a:t>
            </a:r>
          </a:p>
        </p:txBody>
      </p:sp>
      <p:sp>
        <p:nvSpPr>
          <p:cNvPr id="11" name="TextBox 10"/>
          <p:cNvSpPr txBox="1"/>
          <p:nvPr/>
        </p:nvSpPr>
        <p:spPr>
          <a:xfrm>
            <a:off x="1079499" y="2000250"/>
            <a:ext cx="571499" cy="349250"/>
          </a:xfrm>
          <a:prstGeom prst="rect">
            <a:avLst/>
          </a:prstGeom>
          <a:noFill/>
        </p:spPr>
        <p:txBody>
          <a:bodyPr wrap="square" lIns="0" tIns="0" rIns="0" bIns="0" anchor="ctr">
            <a:spAutoFit/>
          </a:bodyPr>
          <a:lstStyle/>
          <a:p>
            <a:pPr algn="l"/>
            <a:r>
              <a:rPr sz="2300" b="1">
                <a:solidFill>
                  <a:srgbClr val="F8F9FC"/>
                </a:solidFill>
                <a:latin typeface="Arial"/>
              </a:rPr>
              <a:t>01</a:t>
            </a:r>
          </a:p>
        </p:txBody>
      </p:sp>
      <p:sp>
        <p:nvSpPr>
          <p:cNvPr id="12" name="TextBox 11"/>
          <p:cNvSpPr txBox="1"/>
          <p:nvPr/>
        </p:nvSpPr>
        <p:spPr>
          <a:xfrm>
            <a:off x="1619249" y="2000250"/>
            <a:ext cx="2285999" cy="349250"/>
          </a:xfrm>
          <a:prstGeom prst="rect">
            <a:avLst/>
          </a:prstGeom>
          <a:noFill/>
        </p:spPr>
        <p:txBody>
          <a:bodyPr wrap="square" lIns="0" tIns="0" rIns="0" bIns="0" anchor="ctr">
            <a:spAutoFit/>
          </a:bodyPr>
          <a:lstStyle/>
          <a:p>
            <a:pPr algn="l"/>
            <a:r>
              <a:rPr sz="1800" b="0">
                <a:solidFill>
                  <a:srgbClr val="F8F9FC"/>
                </a:solidFill>
                <a:latin typeface="Arial"/>
              </a:rPr>
              <a:t>Tiêu đề &amp; Giới thiệu</a:t>
            </a:r>
          </a:p>
        </p:txBody>
      </p:sp>
      <p:sp>
        <p:nvSpPr>
          <p:cNvPr id="13" name="TextBox 12"/>
          <p:cNvSpPr txBox="1"/>
          <p:nvPr/>
        </p:nvSpPr>
        <p:spPr>
          <a:xfrm>
            <a:off x="4762499" y="2000250"/>
            <a:ext cx="571499" cy="349250"/>
          </a:xfrm>
          <a:prstGeom prst="rect">
            <a:avLst/>
          </a:prstGeom>
          <a:noFill/>
        </p:spPr>
        <p:txBody>
          <a:bodyPr wrap="square" lIns="0" tIns="0" rIns="0" bIns="0" anchor="ctr">
            <a:spAutoFit/>
          </a:bodyPr>
          <a:lstStyle/>
          <a:p>
            <a:pPr algn="l"/>
            <a:r>
              <a:rPr sz="2300" b="1">
                <a:solidFill>
                  <a:srgbClr val="F8F9FC"/>
                </a:solidFill>
                <a:latin typeface="Arial"/>
              </a:rPr>
              <a:t>04</a:t>
            </a:r>
          </a:p>
        </p:txBody>
      </p:sp>
      <p:sp>
        <p:nvSpPr>
          <p:cNvPr id="14" name="TextBox 13"/>
          <p:cNvSpPr txBox="1"/>
          <p:nvPr/>
        </p:nvSpPr>
        <p:spPr>
          <a:xfrm>
            <a:off x="5333999" y="2000250"/>
            <a:ext cx="2222499" cy="349250"/>
          </a:xfrm>
          <a:prstGeom prst="rect">
            <a:avLst/>
          </a:prstGeom>
          <a:noFill/>
        </p:spPr>
        <p:txBody>
          <a:bodyPr wrap="square" lIns="0" tIns="0" rIns="0" bIns="0" anchor="ctr">
            <a:spAutoFit/>
          </a:bodyPr>
          <a:lstStyle/>
          <a:p>
            <a:pPr algn="l"/>
            <a:r>
              <a:rPr sz="1800" b="0">
                <a:solidFill>
                  <a:srgbClr val="F8F9FC"/>
                </a:solidFill>
                <a:latin typeface="Arial"/>
              </a:rPr>
              <a:t>Vật liệu &amp; vật liệu</a:t>
            </a:r>
          </a:p>
        </p:txBody>
      </p:sp>
      <p:sp>
        <p:nvSpPr>
          <p:cNvPr id="15" name="TextBox 14"/>
          <p:cNvSpPr txBox="1"/>
          <p:nvPr/>
        </p:nvSpPr>
        <p:spPr>
          <a:xfrm>
            <a:off x="1079499" y="3397250"/>
            <a:ext cx="571499" cy="349250"/>
          </a:xfrm>
          <a:prstGeom prst="rect">
            <a:avLst/>
          </a:prstGeom>
          <a:noFill/>
        </p:spPr>
        <p:txBody>
          <a:bodyPr wrap="square" lIns="0" tIns="0" rIns="0" bIns="0" anchor="ctr">
            <a:spAutoFit/>
          </a:bodyPr>
          <a:lstStyle/>
          <a:p>
            <a:pPr algn="l"/>
            <a:r>
              <a:rPr sz="2300" b="1">
                <a:solidFill>
                  <a:srgbClr val="F8F9FC"/>
                </a:solidFill>
                <a:latin typeface="Arial"/>
              </a:rPr>
              <a:t>02</a:t>
            </a:r>
          </a:p>
        </p:txBody>
      </p:sp>
      <p:sp>
        <p:nvSpPr>
          <p:cNvPr id="16" name="TextBox 15"/>
          <p:cNvSpPr txBox="1"/>
          <p:nvPr/>
        </p:nvSpPr>
        <p:spPr>
          <a:xfrm>
            <a:off x="1619249" y="3397250"/>
            <a:ext cx="2666999" cy="571500"/>
          </a:xfrm>
          <a:prstGeom prst="rect">
            <a:avLst/>
          </a:prstGeom>
          <a:noFill/>
        </p:spPr>
        <p:txBody>
          <a:bodyPr wrap="square" lIns="0" tIns="0" rIns="0" bIns="0" anchor="ctr">
            <a:spAutoFit/>
          </a:bodyPr>
          <a:lstStyle/>
          <a:p>
            <a:pPr algn="l"/>
            <a:r>
              <a:rPr sz="1800" b="0">
                <a:solidFill>
                  <a:srgbClr val="F8F9FC"/>
                </a:solidFill>
                <a:latin typeface="Arial"/>
              </a:rPr>
              <a:t>Đặt vấn đề &amp; Tính cấp
thiết bị</a:t>
            </a:r>
          </a:p>
        </p:txBody>
      </p:sp>
      <p:sp>
        <p:nvSpPr>
          <p:cNvPr id="17" name="TextBox 16"/>
          <p:cNvSpPr txBox="1"/>
          <p:nvPr/>
        </p:nvSpPr>
        <p:spPr>
          <a:xfrm>
            <a:off x="4762499" y="3397250"/>
            <a:ext cx="571499" cy="349250"/>
          </a:xfrm>
          <a:prstGeom prst="rect">
            <a:avLst/>
          </a:prstGeom>
          <a:noFill/>
        </p:spPr>
        <p:txBody>
          <a:bodyPr wrap="square" lIns="0" tIns="0" rIns="0" bIns="0" anchor="ctr">
            <a:spAutoFit/>
          </a:bodyPr>
          <a:lstStyle/>
          <a:p>
            <a:pPr algn="l"/>
            <a:r>
              <a:rPr sz="2300" b="1">
                <a:solidFill>
                  <a:srgbClr val="F8F9FC"/>
                </a:solidFill>
                <a:latin typeface="Arial"/>
              </a:rPr>
              <a:t>05</a:t>
            </a:r>
          </a:p>
        </p:txBody>
      </p:sp>
      <p:sp>
        <p:nvSpPr>
          <p:cNvPr id="18" name="TextBox 17"/>
          <p:cNvSpPr txBox="1"/>
          <p:nvPr/>
        </p:nvSpPr>
        <p:spPr>
          <a:xfrm>
            <a:off x="5333999" y="3397250"/>
            <a:ext cx="2476499" cy="571500"/>
          </a:xfrm>
          <a:prstGeom prst="rect">
            <a:avLst/>
          </a:prstGeom>
          <a:noFill/>
        </p:spPr>
        <p:txBody>
          <a:bodyPr wrap="square" lIns="0" tIns="0" rIns="0" bIns="0" anchor="ctr">
            <a:spAutoFit/>
          </a:bodyPr>
          <a:lstStyle/>
          <a:p>
            <a:pPr algn="l"/>
            <a:r>
              <a:rPr sz="1800" b="0">
                <a:solidFill>
                  <a:srgbClr val="F8F9FC"/>
                </a:solidFill>
                <a:latin typeface="Arial"/>
              </a:rPr>
              <a:t>Kiến trúc &amp; Hệ thống
khai báo</a:t>
            </a:r>
          </a:p>
        </p:txBody>
      </p:sp>
      <p:sp>
        <p:nvSpPr>
          <p:cNvPr id="19" name="TextBox 18"/>
          <p:cNvSpPr txBox="1"/>
          <p:nvPr/>
        </p:nvSpPr>
        <p:spPr>
          <a:xfrm>
            <a:off x="1079499" y="4762500"/>
            <a:ext cx="571499" cy="349250"/>
          </a:xfrm>
          <a:prstGeom prst="rect">
            <a:avLst/>
          </a:prstGeom>
          <a:noFill/>
        </p:spPr>
        <p:txBody>
          <a:bodyPr wrap="square" lIns="0" tIns="0" rIns="0" bIns="0" anchor="ctr">
            <a:spAutoFit/>
          </a:bodyPr>
          <a:lstStyle/>
          <a:p>
            <a:pPr algn="l"/>
            <a:r>
              <a:rPr sz="2300" b="1">
                <a:solidFill>
                  <a:srgbClr val="F8F9FC"/>
                </a:solidFill>
                <a:latin typeface="Arial"/>
              </a:rPr>
              <a:t>03</a:t>
            </a:r>
          </a:p>
        </p:txBody>
      </p:sp>
      <p:sp>
        <p:nvSpPr>
          <p:cNvPr id="20" name="TextBox 19"/>
          <p:cNvSpPr txBox="1"/>
          <p:nvPr/>
        </p:nvSpPr>
        <p:spPr>
          <a:xfrm>
            <a:off x="1619249" y="4762500"/>
            <a:ext cx="2666999" cy="349250"/>
          </a:xfrm>
          <a:prstGeom prst="rect">
            <a:avLst/>
          </a:prstGeom>
          <a:noFill/>
        </p:spPr>
        <p:txBody>
          <a:bodyPr wrap="square" lIns="0" tIns="0" rIns="0" bIns="0" anchor="ctr">
            <a:spAutoFit/>
          </a:bodyPr>
          <a:lstStyle/>
          <a:p>
            <a:pPr algn="l"/>
            <a:r>
              <a:rPr sz="1800" b="0">
                <a:solidFill>
                  <a:srgbClr val="F8F9FC"/>
                </a:solidFill>
                <a:latin typeface="Arial"/>
              </a:rPr>
              <a:t>Số tiêu đề Nghiên cứu</a:t>
            </a:r>
          </a:p>
        </p:txBody>
      </p:sp>
      <p:sp>
        <p:nvSpPr>
          <p:cNvPr id="21" name="TextBox 20"/>
          <p:cNvSpPr txBox="1"/>
          <p:nvPr/>
        </p:nvSpPr>
        <p:spPr>
          <a:xfrm>
            <a:off x="4762499" y="4762500"/>
            <a:ext cx="571499" cy="349250"/>
          </a:xfrm>
          <a:prstGeom prst="rect">
            <a:avLst/>
          </a:prstGeom>
          <a:noFill/>
        </p:spPr>
        <p:txBody>
          <a:bodyPr wrap="square" lIns="0" tIns="0" rIns="0" bIns="0" anchor="ctr">
            <a:spAutoFit/>
          </a:bodyPr>
          <a:lstStyle/>
          <a:p>
            <a:pPr algn="l"/>
            <a:r>
              <a:rPr sz="2300" b="1">
                <a:solidFill>
                  <a:srgbClr val="F8F9FC"/>
                </a:solidFill>
                <a:latin typeface="Arial"/>
              </a:rPr>
              <a:t>06</a:t>
            </a:r>
          </a:p>
        </p:txBody>
      </p:sp>
      <p:sp>
        <p:nvSpPr>
          <p:cNvPr id="22" name="TextBox 21"/>
          <p:cNvSpPr txBox="1"/>
          <p:nvPr/>
        </p:nvSpPr>
        <p:spPr>
          <a:xfrm>
            <a:off x="5333999" y="4762500"/>
            <a:ext cx="1650999" cy="349250"/>
          </a:xfrm>
          <a:prstGeom prst="rect">
            <a:avLst/>
          </a:prstGeom>
          <a:noFill/>
        </p:spPr>
        <p:txBody>
          <a:bodyPr wrap="square" lIns="0" tIns="0" rIns="0" bIns="0" anchor="ctr">
            <a:spAutoFit/>
          </a:bodyPr>
          <a:lstStyle/>
          <a:p>
            <a:pPr algn="l"/>
            <a:r>
              <a:rPr sz="1800" b="0">
                <a:solidFill>
                  <a:srgbClr val="F8F9FC"/>
                </a:solidFill>
                <a:latin typeface="Arial"/>
              </a:rPr>
              <a:t>Danh mục 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3.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963561" y="2222500"/>
            <a:ext cx="4941937" cy="1966042"/>
          </a:xfrm>
          <a:prstGeom prst="rect">
            <a:avLst/>
          </a:prstGeom>
          <a:solidFill>
            <a:srgbClr val="06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79499" y="2467431"/>
            <a:ext cx="825499" cy="430887"/>
          </a:xfrm>
          <a:prstGeom prst="rect">
            <a:avLst/>
          </a:prstGeom>
          <a:noFill/>
        </p:spPr>
        <p:txBody>
          <a:bodyPr wrap="square" lIns="0" tIns="0" rIns="0" bIns="0" anchor="ctr">
            <a:spAutoFit/>
          </a:bodyPr>
          <a:lstStyle/>
          <a:p>
            <a:pPr algn="l"/>
            <a:r>
              <a:rPr sz="2800" b="1" dirty="0">
                <a:ln>
                  <a:solidFill>
                    <a:schemeClr val="accent1"/>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glow rad="139700">
                    <a:schemeClr val="accent3">
                      <a:satMod val="175000"/>
                      <a:alpha val="40000"/>
                    </a:schemeClr>
                  </a:glow>
                </a:effectLst>
                <a:latin typeface="Arial"/>
              </a:rPr>
              <a:t>01</a:t>
            </a:r>
          </a:p>
        </p:txBody>
      </p:sp>
      <p:sp>
        <p:nvSpPr>
          <p:cNvPr id="5" name="TextBox 4"/>
          <p:cNvSpPr txBox="1"/>
          <p:nvPr/>
        </p:nvSpPr>
        <p:spPr>
          <a:xfrm>
            <a:off x="1079499" y="2991306"/>
            <a:ext cx="4444999" cy="430887"/>
          </a:xfrm>
          <a:prstGeom prst="rect">
            <a:avLst/>
          </a:prstGeom>
          <a:noFill/>
        </p:spPr>
        <p:txBody>
          <a:bodyPr wrap="square" lIns="0" tIns="0" rIns="0" bIns="0" anchor="ctr">
            <a:spAutoFit/>
          </a:bodyPr>
          <a:lstStyle/>
          <a:p>
            <a:pPr algn="l"/>
            <a:r>
              <a:rPr sz="2800" b="1" dirty="0" err="1">
                <a:ln>
                  <a:solidFill>
                    <a:schemeClr val="accent1"/>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glow rad="139700">
                    <a:schemeClr val="accent3">
                      <a:satMod val="175000"/>
                      <a:alpha val="40000"/>
                    </a:schemeClr>
                  </a:glow>
                </a:effectLst>
                <a:latin typeface="Arial"/>
              </a:rPr>
              <a:t>Tiêu</a:t>
            </a:r>
            <a:r>
              <a:rPr sz="2800" b="1" dirty="0">
                <a:ln>
                  <a:solidFill>
                    <a:schemeClr val="accent1"/>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glow rad="139700">
                    <a:schemeClr val="accent3">
                      <a:satMod val="175000"/>
                      <a:alpha val="40000"/>
                    </a:schemeClr>
                  </a:glow>
                </a:effectLst>
                <a:latin typeface="Arial"/>
              </a:rPr>
              <a:t> </a:t>
            </a:r>
            <a:r>
              <a:rPr sz="2800" b="1" dirty="0" err="1">
                <a:ln>
                  <a:solidFill>
                    <a:schemeClr val="accent1"/>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glow rad="139700">
                    <a:schemeClr val="accent3">
                      <a:satMod val="175000"/>
                      <a:alpha val="40000"/>
                    </a:schemeClr>
                  </a:glow>
                </a:effectLst>
                <a:latin typeface="Arial"/>
              </a:rPr>
              <a:t>đề</a:t>
            </a:r>
            <a:r>
              <a:rPr sz="2800" b="1" dirty="0">
                <a:ln>
                  <a:solidFill>
                    <a:schemeClr val="accent1"/>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glow rad="139700">
                    <a:schemeClr val="accent3">
                      <a:satMod val="175000"/>
                      <a:alpha val="40000"/>
                    </a:schemeClr>
                  </a:glow>
                </a:effectLst>
                <a:latin typeface="Arial"/>
              </a:rPr>
              <a:t> &amp; </a:t>
            </a:r>
            <a:r>
              <a:rPr sz="2800" b="1" dirty="0" err="1">
                <a:ln>
                  <a:solidFill>
                    <a:schemeClr val="accent1"/>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glow rad="139700">
                    <a:schemeClr val="accent3">
                      <a:satMod val="175000"/>
                      <a:alpha val="40000"/>
                    </a:schemeClr>
                  </a:glow>
                </a:effectLst>
                <a:latin typeface="Arial"/>
              </a:rPr>
              <a:t>Giới</a:t>
            </a:r>
            <a:r>
              <a:rPr sz="2800" b="1" dirty="0">
                <a:ln>
                  <a:solidFill>
                    <a:schemeClr val="accent1"/>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glow rad="139700">
                    <a:schemeClr val="accent3">
                      <a:satMod val="175000"/>
                      <a:alpha val="40000"/>
                    </a:schemeClr>
                  </a:glow>
                </a:effectLst>
                <a:latin typeface="Arial"/>
              </a:rPr>
              <a:t> </a:t>
            </a:r>
            <a:r>
              <a:rPr sz="2800" b="1" dirty="0" err="1">
                <a:ln>
                  <a:solidFill>
                    <a:schemeClr val="accent1"/>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glow rad="139700">
                    <a:schemeClr val="accent3">
                      <a:satMod val="175000"/>
                      <a:alpha val="40000"/>
                    </a:schemeClr>
                  </a:glow>
                </a:effectLst>
                <a:latin typeface="Arial"/>
              </a:rPr>
              <a:t>thiệu</a:t>
            </a:r>
            <a:endParaRPr sz="2800" b="1" dirty="0">
              <a:ln>
                <a:solidFill>
                  <a:schemeClr val="accent1"/>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glow rad="139700">
                  <a:schemeClr val="accent3">
                    <a:satMod val="175000"/>
                    <a:alpha val="40000"/>
                  </a:schemeClr>
                </a:glow>
              </a:effectLst>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4.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825499" y="666750"/>
            <a:ext cx="6984999" cy="857250"/>
          </a:xfrm>
          <a:prstGeom prst="rect">
            <a:avLst/>
          </a:prstGeom>
          <a:solidFill>
            <a:srgbClr val="06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158999" y="1905000"/>
            <a:ext cx="4571999" cy="1333500"/>
          </a:xfrm>
          <a:prstGeom prst="rect">
            <a:avLst/>
          </a:prstGeom>
          <a:solidFill>
            <a:srgbClr val="06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158999" y="3778250"/>
            <a:ext cx="4825999" cy="1587500"/>
          </a:xfrm>
          <a:prstGeom prst="rect">
            <a:avLst/>
          </a:prstGeom>
          <a:solidFill>
            <a:srgbClr val="06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556499" y="1873250"/>
            <a:ext cx="3746499" cy="1778000"/>
          </a:xfrm>
          <a:prstGeom prst="rect">
            <a:avLst/>
          </a:prstGeom>
          <a:solidFill>
            <a:srgbClr val="06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47749" y="857250"/>
            <a:ext cx="6603999" cy="412749"/>
          </a:xfrm>
          <a:prstGeom prst="rect">
            <a:avLst/>
          </a:prstGeom>
          <a:noFill/>
        </p:spPr>
        <p:txBody>
          <a:bodyPr wrap="square" lIns="0" tIns="0" rIns="0" bIns="0" anchor="ctr">
            <a:spAutoFit/>
          </a:bodyPr>
          <a:lstStyle/>
          <a:p>
            <a:pPr algn="l"/>
            <a:r>
              <a:rPr sz="2500" b="1">
                <a:solidFill>
                  <a:srgbClr val="F8F9FC"/>
                </a:solidFill>
                <a:latin typeface="Arial"/>
              </a:rPr>
              <a:t>Tư vấn về hệ thống thông tin hiện đại</a:t>
            </a:r>
          </a:p>
        </p:txBody>
      </p:sp>
      <p:sp>
        <p:nvSpPr>
          <p:cNvPr id="8" name="TextBox 7"/>
          <p:cNvSpPr txBox="1"/>
          <p:nvPr/>
        </p:nvSpPr>
        <p:spPr>
          <a:xfrm>
            <a:off x="2349499" y="2155194"/>
            <a:ext cx="5175250" cy="261610"/>
          </a:xfrm>
          <a:prstGeom prst="rect">
            <a:avLst/>
          </a:prstGeom>
          <a:noFill/>
        </p:spPr>
        <p:txBody>
          <a:bodyPr wrap="square" lIns="0" tIns="0" rIns="0" bIns="0" anchor="ctr">
            <a:spAutoFit/>
          </a:bodyPr>
          <a:lstStyle/>
          <a:p>
            <a:pPr algn="l"/>
            <a:r>
              <a:rPr sz="1700" b="1" dirty="0">
                <a:solidFill>
                  <a:srgbClr val="F8F9FC"/>
                </a:solidFill>
                <a:latin typeface="Arial"/>
              </a:rPr>
              <a:t>Vai </a:t>
            </a:r>
            <a:r>
              <a:rPr sz="1700" b="1" dirty="0" err="1">
                <a:solidFill>
                  <a:srgbClr val="F8F9FC"/>
                </a:solidFill>
                <a:latin typeface="Arial"/>
              </a:rPr>
              <a:t>trò</a:t>
            </a:r>
            <a:r>
              <a:rPr sz="1700" b="1" dirty="0">
                <a:solidFill>
                  <a:srgbClr val="F8F9FC"/>
                </a:solidFill>
                <a:latin typeface="Arial"/>
              </a:rPr>
              <a:t> </a:t>
            </a:r>
            <a:r>
              <a:rPr sz="1700" b="1" dirty="0" err="1">
                <a:solidFill>
                  <a:srgbClr val="F8F9FC"/>
                </a:solidFill>
                <a:latin typeface="Arial"/>
              </a:rPr>
              <a:t>của</a:t>
            </a:r>
            <a:r>
              <a:rPr sz="1700" b="1" dirty="0">
                <a:solidFill>
                  <a:srgbClr val="F8F9FC"/>
                </a:solidFill>
                <a:latin typeface="Arial"/>
              </a:rPr>
              <a:t> </a:t>
            </a:r>
            <a:r>
              <a:rPr sz="1700" b="1" dirty="0" err="1">
                <a:solidFill>
                  <a:srgbClr val="F8F9FC"/>
                </a:solidFill>
                <a:latin typeface="Arial"/>
              </a:rPr>
              <a:t>bảo</a:t>
            </a:r>
            <a:r>
              <a:rPr sz="1700" b="1" dirty="0">
                <a:solidFill>
                  <a:srgbClr val="F8F9FC"/>
                </a:solidFill>
                <a:latin typeface="Arial"/>
              </a:rPr>
              <a:t> </a:t>
            </a:r>
            <a:r>
              <a:rPr sz="1700" b="1" dirty="0" err="1">
                <a:solidFill>
                  <a:srgbClr val="F8F9FC"/>
                </a:solidFill>
                <a:latin typeface="Arial"/>
              </a:rPr>
              <a:t>mật</a:t>
            </a:r>
            <a:r>
              <a:rPr sz="1700" b="1" dirty="0">
                <a:solidFill>
                  <a:srgbClr val="F8F9FC"/>
                </a:solidFill>
                <a:latin typeface="Arial"/>
              </a:rPr>
              <a:t> </a:t>
            </a:r>
            <a:r>
              <a:rPr sz="1700" b="1" dirty="0" err="1">
                <a:solidFill>
                  <a:srgbClr val="F8F9FC"/>
                </a:solidFill>
                <a:latin typeface="Arial"/>
              </a:rPr>
              <a:t>trong</a:t>
            </a:r>
            <a:r>
              <a:rPr sz="1700" b="1" dirty="0">
                <a:solidFill>
                  <a:srgbClr val="F8F9FC"/>
                </a:solidFill>
                <a:latin typeface="Arial"/>
              </a:rPr>
              <a:t> </a:t>
            </a:r>
            <a:r>
              <a:rPr sz="1700" b="1" dirty="0" err="1">
                <a:solidFill>
                  <a:srgbClr val="F8F9FC"/>
                </a:solidFill>
                <a:latin typeface="Arial"/>
              </a:rPr>
              <a:t>hệ</a:t>
            </a:r>
            <a:r>
              <a:rPr sz="1700" b="1" dirty="0">
                <a:solidFill>
                  <a:srgbClr val="F8F9FC"/>
                </a:solidFill>
                <a:latin typeface="Arial"/>
              </a:rPr>
              <a:t> </a:t>
            </a:r>
            <a:r>
              <a:rPr sz="1700" b="1" dirty="0" err="1">
                <a:solidFill>
                  <a:srgbClr val="F8F9FC"/>
                </a:solidFill>
                <a:latin typeface="Arial"/>
              </a:rPr>
              <a:t>thống</a:t>
            </a:r>
            <a:r>
              <a:rPr sz="1700" b="1" dirty="0">
                <a:solidFill>
                  <a:srgbClr val="F8F9FC"/>
                </a:solidFill>
                <a:latin typeface="Arial"/>
              </a:rPr>
              <a:t> </a:t>
            </a:r>
            <a:r>
              <a:rPr sz="1700" b="1" dirty="0" err="1">
                <a:solidFill>
                  <a:srgbClr val="F8F9FC"/>
                </a:solidFill>
                <a:latin typeface="Arial"/>
              </a:rPr>
              <a:t>hiện</a:t>
            </a:r>
            <a:r>
              <a:rPr sz="1700" b="1" dirty="0">
                <a:solidFill>
                  <a:srgbClr val="F8F9FC"/>
                </a:solidFill>
                <a:latin typeface="Arial"/>
              </a:rPr>
              <a:t> </a:t>
            </a:r>
            <a:r>
              <a:rPr sz="1700" b="1" dirty="0" err="1">
                <a:solidFill>
                  <a:srgbClr val="F8F9FC"/>
                </a:solidFill>
                <a:latin typeface="Arial"/>
              </a:rPr>
              <a:t>đại</a:t>
            </a:r>
            <a:endParaRPr sz="1700" b="1" dirty="0">
              <a:solidFill>
                <a:srgbClr val="F8F9FC"/>
              </a:solidFill>
              <a:latin typeface="Arial"/>
            </a:endParaRPr>
          </a:p>
        </p:txBody>
      </p:sp>
      <p:sp>
        <p:nvSpPr>
          <p:cNvPr id="9" name="TextBox 8"/>
          <p:cNvSpPr txBox="1"/>
          <p:nvPr/>
        </p:nvSpPr>
        <p:spPr>
          <a:xfrm>
            <a:off x="2476499" y="2555874"/>
            <a:ext cx="4444999" cy="698500"/>
          </a:xfrm>
          <a:prstGeom prst="rect">
            <a:avLst/>
          </a:prstGeom>
          <a:noFill/>
        </p:spPr>
        <p:txBody>
          <a:bodyPr wrap="square" lIns="0" tIns="0" rIns="0" bIns="0" anchor="ctr">
            <a:spAutoFit/>
          </a:bodyPr>
          <a:lstStyle/>
          <a:p>
            <a:pPr algn="l"/>
            <a:r>
              <a:rPr sz="1500" b="0" dirty="0">
                <a:solidFill>
                  <a:srgbClr val="F8F9FC"/>
                </a:solidFill>
                <a:latin typeface="Arial"/>
              </a:rPr>
              <a:t>• Bảo </a:t>
            </a:r>
            <a:r>
              <a:rPr sz="1500" b="0" dirty="0" err="1">
                <a:solidFill>
                  <a:srgbClr val="F8F9FC"/>
                </a:solidFill>
                <a:latin typeface="Arial"/>
              </a:rPr>
              <a:t>vệ</a:t>
            </a:r>
            <a:r>
              <a:rPr sz="1500" b="0" dirty="0">
                <a:solidFill>
                  <a:srgbClr val="F8F9FC"/>
                </a:solidFill>
                <a:latin typeface="Arial"/>
              </a:rPr>
              <a:t> </a:t>
            </a:r>
            <a:r>
              <a:rPr sz="1500" b="0" dirty="0" err="1">
                <a:solidFill>
                  <a:srgbClr val="F8F9FC"/>
                </a:solidFill>
                <a:latin typeface="Arial"/>
              </a:rPr>
              <a:t>dữ</a:t>
            </a:r>
            <a:r>
              <a:rPr sz="1500" b="0" dirty="0">
                <a:solidFill>
                  <a:srgbClr val="F8F9FC"/>
                </a:solidFill>
                <a:latin typeface="Arial"/>
              </a:rPr>
              <a:t> </a:t>
            </a:r>
            <a:r>
              <a:rPr sz="1500" b="0" dirty="0" err="1">
                <a:solidFill>
                  <a:srgbClr val="F8F9FC"/>
                </a:solidFill>
                <a:latin typeface="Arial"/>
              </a:rPr>
              <a:t>liệu</a:t>
            </a:r>
            <a:r>
              <a:rPr sz="1500" b="0" dirty="0">
                <a:solidFill>
                  <a:srgbClr val="F8F9FC"/>
                </a:solidFill>
                <a:latin typeface="Arial"/>
              </a:rPr>
              <a:t> </a:t>
            </a:r>
            <a:r>
              <a:rPr sz="1500" b="0" dirty="0" err="1">
                <a:solidFill>
                  <a:srgbClr val="F8F9FC"/>
                </a:solidFill>
                <a:latin typeface="Arial"/>
              </a:rPr>
              <a:t>và</a:t>
            </a:r>
            <a:r>
              <a:rPr sz="1500" b="0" dirty="0">
                <a:solidFill>
                  <a:srgbClr val="F8F9FC"/>
                </a:solidFill>
                <a:latin typeface="Arial"/>
              </a:rPr>
              <a:t> </a:t>
            </a:r>
            <a:r>
              <a:rPr sz="1500" b="0" dirty="0" err="1">
                <a:solidFill>
                  <a:srgbClr val="F8F9FC"/>
                </a:solidFill>
                <a:latin typeface="Arial"/>
              </a:rPr>
              <a:t>hệ</a:t>
            </a:r>
            <a:r>
              <a:rPr sz="1500" b="0" dirty="0">
                <a:solidFill>
                  <a:srgbClr val="F8F9FC"/>
                </a:solidFill>
                <a:latin typeface="Arial"/>
              </a:rPr>
              <a:t> </a:t>
            </a:r>
            <a:r>
              <a:rPr sz="1500" b="0" dirty="0" err="1">
                <a:solidFill>
                  <a:srgbClr val="F8F9FC"/>
                </a:solidFill>
                <a:latin typeface="Arial"/>
              </a:rPr>
              <a:t>thống</a:t>
            </a:r>
            <a:r>
              <a:rPr sz="1500" b="0" dirty="0">
                <a:solidFill>
                  <a:srgbClr val="F8F9FC"/>
                </a:solidFill>
                <a:latin typeface="Arial"/>
              </a:rPr>
              <a:t> </a:t>
            </a:r>
            <a:r>
              <a:rPr sz="1500" b="0" dirty="0" err="1">
                <a:solidFill>
                  <a:srgbClr val="F8F9FC"/>
                </a:solidFill>
                <a:latin typeface="Arial"/>
              </a:rPr>
              <a:t>khỏi</a:t>
            </a:r>
            <a:r>
              <a:rPr sz="1500" b="0" dirty="0">
                <a:solidFill>
                  <a:srgbClr val="F8F9FC"/>
                </a:solidFill>
                <a:latin typeface="Arial"/>
              </a:rPr>
              <a:t> </a:t>
            </a:r>
            <a:r>
              <a:rPr sz="1500" b="0" dirty="0" err="1">
                <a:solidFill>
                  <a:srgbClr val="F8F9FC"/>
                </a:solidFill>
                <a:latin typeface="Arial"/>
              </a:rPr>
              <a:t>các</a:t>
            </a:r>
            <a:r>
              <a:rPr sz="1500" b="0" dirty="0">
                <a:solidFill>
                  <a:srgbClr val="F8F9FC"/>
                </a:solidFill>
                <a:latin typeface="Arial"/>
              </a:rPr>
              <a:t> </a:t>
            </a:r>
            <a:r>
              <a:rPr sz="1500" b="0" dirty="0" err="1">
                <a:solidFill>
                  <a:srgbClr val="F8F9FC"/>
                </a:solidFill>
                <a:latin typeface="Arial"/>
              </a:rPr>
              <a:t>mối</a:t>
            </a:r>
            <a:r>
              <a:rPr sz="1500" b="0" dirty="0">
                <a:solidFill>
                  <a:srgbClr val="F8F9FC"/>
                </a:solidFill>
                <a:latin typeface="Arial"/>
              </a:rPr>
              <a:t> </a:t>
            </a:r>
            <a:r>
              <a:rPr sz="1500" b="0" dirty="0" err="1">
                <a:solidFill>
                  <a:srgbClr val="F8F9FC"/>
                </a:solidFill>
                <a:latin typeface="Arial"/>
              </a:rPr>
              <a:t>đe</a:t>
            </a:r>
            <a:r>
              <a:rPr sz="1500" b="0" dirty="0">
                <a:solidFill>
                  <a:srgbClr val="F8F9FC"/>
                </a:solidFill>
                <a:latin typeface="Arial"/>
              </a:rPr>
              <a:t> </a:t>
            </a:r>
            <a:r>
              <a:rPr sz="1500" b="0" dirty="0" err="1">
                <a:solidFill>
                  <a:srgbClr val="F8F9FC"/>
                </a:solidFill>
                <a:latin typeface="Arial"/>
              </a:rPr>
              <a:t>dọa</a:t>
            </a:r>
            <a:r>
              <a:rPr sz="1500" b="0" dirty="0">
                <a:solidFill>
                  <a:srgbClr val="F8F9FC"/>
                </a:solidFill>
                <a:latin typeface="Arial"/>
              </a:rPr>
              <a:t>
</a:t>
            </a:r>
            <a:r>
              <a:rPr sz="1500" b="0" dirty="0" err="1">
                <a:solidFill>
                  <a:srgbClr val="F8F9FC"/>
                </a:solidFill>
                <a:latin typeface="Arial"/>
              </a:rPr>
              <a:t>ngày</a:t>
            </a:r>
            <a:r>
              <a:rPr sz="1500" b="0" dirty="0">
                <a:solidFill>
                  <a:srgbClr val="F8F9FC"/>
                </a:solidFill>
                <a:latin typeface="Arial"/>
              </a:rPr>
              <a:t> </a:t>
            </a:r>
            <a:r>
              <a:rPr sz="1500" b="0" dirty="0" err="1">
                <a:solidFill>
                  <a:srgbClr val="F8F9FC"/>
                </a:solidFill>
                <a:latin typeface="Arial"/>
              </a:rPr>
              <a:t>càng</a:t>
            </a:r>
            <a:r>
              <a:rPr sz="1500" b="0" dirty="0">
                <a:solidFill>
                  <a:srgbClr val="F8F9FC"/>
                </a:solidFill>
                <a:latin typeface="Arial"/>
              </a:rPr>
              <a:t> </a:t>
            </a:r>
            <a:r>
              <a:rPr sz="1500" b="0" dirty="0" err="1">
                <a:solidFill>
                  <a:srgbClr val="F8F9FC"/>
                </a:solidFill>
                <a:latin typeface="Arial"/>
              </a:rPr>
              <a:t>tinh</a:t>
            </a:r>
            <a:r>
              <a:rPr sz="1500" b="0" dirty="0">
                <a:solidFill>
                  <a:srgbClr val="F8F9FC"/>
                </a:solidFill>
                <a:latin typeface="Arial"/>
              </a:rPr>
              <a:t> vi, </a:t>
            </a:r>
            <a:r>
              <a:rPr sz="1500" b="0" dirty="0" err="1">
                <a:solidFill>
                  <a:srgbClr val="F8F9FC"/>
                </a:solidFill>
                <a:latin typeface="Arial"/>
              </a:rPr>
              <a:t>đảm</a:t>
            </a:r>
            <a:r>
              <a:rPr sz="1500" b="0" dirty="0">
                <a:solidFill>
                  <a:srgbClr val="F8F9FC"/>
                </a:solidFill>
                <a:latin typeface="Arial"/>
              </a:rPr>
              <a:t> </a:t>
            </a:r>
            <a:r>
              <a:rPr sz="1500" b="0" dirty="0" err="1">
                <a:solidFill>
                  <a:srgbClr val="F8F9FC"/>
                </a:solidFill>
                <a:latin typeface="Arial"/>
              </a:rPr>
              <a:t>bảo</a:t>
            </a:r>
            <a:r>
              <a:rPr sz="1500" b="0" dirty="0">
                <a:solidFill>
                  <a:srgbClr val="F8F9FC"/>
                </a:solidFill>
                <a:latin typeface="Arial"/>
              </a:rPr>
              <a:t> </a:t>
            </a:r>
            <a:r>
              <a:rPr sz="1500" b="0" dirty="0" err="1">
                <a:solidFill>
                  <a:srgbClr val="F8F9FC"/>
                </a:solidFill>
                <a:latin typeface="Arial"/>
              </a:rPr>
              <a:t>hoạt</a:t>
            </a:r>
            <a:r>
              <a:rPr sz="1500" b="0" dirty="0">
                <a:solidFill>
                  <a:srgbClr val="F8F9FC"/>
                </a:solidFill>
                <a:latin typeface="Arial"/>
              </a:rPr>
              <a:t> </a:t>
            </a:r>
            <a:r>
              <a:rPr sz="1500" b="0" dirty="0" err="1">
                <a:solidFill>
                  <a:srgbClr val="F8F9FC"/>
                </a:solidFill>
                <a:latin typeface="Arial"/>
              </a:rPr>
              <a:t>động</a:t>
            </a:r>
            <a:r>
              <a:rPr sz="1500" b="0" dirty="0">
                <a:solidFill>
                  <a:srgbClr val="F8F9FC"/>
                </a:solidFill>
                <a:latin typeface="Arial"/>
              </a:rPr>
              <a:t> </a:t>
            </a:r>
            <a:r>
              <a:rPr sz="1500" b="0" dirty="0" err="1">
                <a:solidFill>
                  <a:srgbClr val="F8F9FC"/>
                </a:solidFill>
                <a:latin typeface="Arial"/>
              </a:rPr>
              <a:t>liên</a:t>
            </a:r>
            <a:r>
              <a:rPr sz="1500" b="0" dirty="0">
                <a:solidFill>
                  <a:srgbClr val="F8F9FC"/>
                </a:solidFill>
                <a:latin typeface="Arial"/>
              </a:rPr>
              <a:t> </a:t>
            </a:r>
            <a:r>
              <a:rPr sz="1500" b="0" dirty="0" err="1">
                <a:solidFill>
                  <a:srgbClr val="F8F9FC"/>
                </a:solidFill>
                <a:latin typeface="Arial"/>
              </a:rPr>
              <a:t>tục</a:t>
            </a:r>
            <a:r>
              <a:rPr sz="1500" b="0" dirty="0">
                <a:solidFill>
                  <a:srgbClr val="F8F9FC"/>
                </a:solidFill>
                <a:latin typeface="Arial"/>
              </a:rPr>
              <a:t>
</a:t>
            </a:r>
            <a:r>
              <a:rPr sz="1500" b="0" dirty="0" err="1">
                <a:solidFill>
                  <a:srgbClr val="F8F9FC"/>
                </a:solidFill>
                <a:latin typeface="Arial"/>
              </a:rPr>
              <a:t>và</a:t>
            </a:r>
            <a:r>
              <a:rPr sz="1500" b="0" dirty="0">
                <a:solidFill>
                  <a:srgbClr val="F8F9FC"/>
                </a:solidFill>
                <a:latin typeface="Arial"/>
              </a:rPr>
              <a:t> an </a:t>
            </a:r>
            <a:r>
              <a:rPr sz="1500" b="0" dirty="0" err="1">
                <a:solidFill>
                  <a:srgbClr val="F8F9FC"/>
                </a:solidFill>
                <a:latin typeface="Arial"/>
              </a:rPr>
              <a:t>toàn</a:t>
            </a:r>
            <a:r>
              <a:rPr sz="1500" b="0" dirty="0">
                <a:solidFill>
                  <a:srgbClr val="F8F9FC"/>
                </a:solidFill>
                <a:latin typeface="Arial"/>
              </a:rPr>
              <a:t>.</a:t>
            </a:r>
          </a:p>
        </p:txBody>
      </p:sp>
      <p:sp>
        <p:nvSpPr>
          <p:cNvPr id="10" name="TextBox 9"/>
          <p:cNvSpPr txBox="1"/>
          <p:nvPr/>
        </p:nvSpPr>
        <p:spPr>
          <a:xfrm>
            <a:off x="2349499" y="4028444"/>
            <a:ext cx="4955869" cy="261610"/>
          </a:xfrm>
          <a:prstGeom prst="rect">
            <a:avLst/>
          </a:prstGeom>
          <a:noFill/>
        </p:spPr>
        <p:txBody>
          <a:bodyPr wrap="square" lIns="0" tIns="0" rIns="0" bIns="0" anchor="ctr">
            <a:spAutoFit/>
          </a:bodyPr>
          <a:lstStyle/>
          <a:p>
            <a:pPr algn="l"/>
            <a:r>
              <a:rPr sz="1700" b="1" dirty="0" err="1">
                <a:solidFill>
                  <a:srgbClr val="F8F9FC"/>
                </a:solidFill>
                <a:latin typeface="Arial"/>
              </a:rPr>
              <a:t>Ngày</a:t>
            </a:r>
            <a:r>
              <a:rPr sz="1700" b="1" dirty="0">
                <a:solidFill>
                  <a:srgbClr val="F8F9FC"/>
                </a:solidFill>
                <a:latin typeface="Arial"/>
              </a:rPr>
              <a:t> nay, </a:t>
            </a:r>
            <a:r>
              <a:rPr sz="1700" b="1" dirty="0" err="1">
                <a:solidFill>
                  <a:srgbClr val="F8F9FC"/>
                </a:solidFill>
                <a:latin typeface="Arial"/>
              </a:rPr>
              <a:t>công</a:t>
            </a:r>
            <a:r>
              <a:rPr sz="1700" b="1" dirty="0">
                <a:solidFill>
                  <a:srgbClr val="F8F9FC"/>
                </a:solidFill>
                <a:latin typeface="Arial"/>
              </a:rPr>
              <a:t> </a:t>
            </a:r>
            <a:r>
              <a:rPr sz="1700" b="1" dirty="0" err="1">
                <a:solidFill>
                  <a:srgbClr val="F8F9FC"/>
                </a:solidFill>
                <a:latin typeface="Arial"/>
              </a:rPr>
              <a:t>thức</a:t>
            </a:r>
            <a:r>
              <a:rPr sz="1700" b="1" dirty="0">
                <a:solidFill>
                  <a:srgbClr val="F8F9FC"/>
                </a:solidFill>
                <a:latin typeface="Arial"/>
              </a:rPr>
              <a:t> </a:t>
            </a:r>
            <a:r>
              <a:rPr sz="1700" b="1" dirty="0" err="1">
                <a:solidFill>
                  <a:srgbClr val="F8F9FC"/>
                </a:solidFill>
                <a:latin typeface="Arial"/>
              </a:rPr>
              <a:t>của</a:t>
            </a:r>
            <a:r>
              <a:rPr sz="1700" b="1" dirty="0">
                <a:solidFill>
                  <a:srgbClr val="F8F9FC"/>
                </a:solidFill>
                <a:latin typeface="Arial"/>
              </a:rPr>
              <a:t> </a:t>
            </a:r>
            <a:r>
              <a:rPr sz="1700" b="1" dirty="0" err="1">
                <a:solidFill>
                  <a:srgbClr val="F8F9FC"/>
                </a:solidFill>
                <a:latin typeface="Arial"/>
              </a:rPr>
              <a:t>hệ</a:t>
            </a:r>
            <a:r>
              <a:rPr sz="1700" b="1" dirty="0">
                <a:solidFill>
                  <a:srgbClr val="F8F9FC"/>
                </a:solidFill>
                <a:latin typeface="Arial"/>
              </a:rPr>
              <a:t> </a:t>
            </a:r>
            <a:r>
              <a:rPr sz="1700" b="1" dirty="0" err="1">
                <a:solidFill>
                  <a:srgbClr val="F8F9FC"/>
                </a:solidFill>
                <a:latin typeface="Arial"/>
              </a:rPr>
              <a:t>thống</a:t>
            </a:r>
            <a:r>
              <a:rPr sz="1700" b="1" dirty="0">
                <a:solidFill>
                  <a:srgbClr val="F8F9FC"/>
                </a:solidFill>
                <a:latin typeface="Arial"/>
              </a:rPr>
              <a:t> </a:t>
            </a:r>
            <a:r>
              <a:rPr sz="1700" b="1" dirty="0" err="1">
                <a:solidFill>
                  <a:srgbClr val="F8F9FC"/>
                </a:solidFill>
                <a:latin typeface="Arial"/>
              </a:rPr>
              <a:t>bảo</a:t>
            </a:r>
            <a:r>
              <a:rPr sz="1700" b="1" dirty="0">
                <a:solidFill>
                  <a:srgbClr val="F8F9FC"/>
                </a:solidFill>
                <a:latin typeface="Arial"/>
              </a:rPr>
              <a:t> </a:t>
            </a:r>
            <a:r>
              <a:rPr sz="1700" b="1" dirty="0" err="1">
                <a:solidFill>
                  <a:srgbClr val="F8F9FC"/>
                </a:solidFill>
                <a:latin typeface="Arial"/>
              </a:rPr>
              <a:t>mật</a:t>
            </a:r>
            <a:endParaRPr sz="1700" b="1" dirty="0">
              <a:solidFill>
                <a:srgbClr val="F8F9FC"/>
              </a:solidFill>
              <a:latin typeface="Arial"/>
            </a:endParaRPr>
          </a:p>
        </p:txBody>
      </p:sp>
      <p:sp>
        <p:nvSpPr>
          <p:cNvPr id="11" name="TextBox 10"/>
          <p:cNvSpPr txBox="1"/>
          <p:nvPr/>
        </p:nvSpPr>
        <p:spPr>
          <a:xfrm>
            <a:off x="2476499" y="4413250"/>
            <a:ext cx="4444999" cy="761999"/>
          </a:xfrm>
          <a:prstGeom prst="rect">
            <a:avLst/>
          </a:prstGeom>
          <a:noFill/>
        </p:spPr>
        <p:txBody>
          <a:bodyPr wrap="square" lIns="0" tIns="0" rIns="0" bIns="0" anchor="ctr">
            <a:spAutoFit/>
          </a:bodyPr>
          <a:lstStyle/>
          <a:p>
            <a:pPr algn="l"/>
            <a:r>
              <a:rPr sz="1500" b="0">
                <a:solidFill>
                  <a:srgbClr val="F8F9FC"/>
                </a:solidFill>
                <a:latin typeface="Arial"/>
              </a:rPr>
              <a:t>• Tăng trưởng số lượng phần mềm, sự phức tạp
của nguồn mã hóa, đòi hỏi giải pháp tự động
hóa hiệu quả hơn.</a:t>
            </a:r>
          </a:p>
        </p:txBody>
      </p:sp>
      <p:sp>
        <p:nvSpPr>
          <p:cNvPr id="12" name="TextBox 11"/>
          <p:cNvSpPr txBox="1"/>
          <p:nvPr/>
        </p:nvSpPr>
        <p:spPr>
          <a:xfrm>
            <a:off x="7556499" y="2040265"/>
            <a:ext cx="3746499" cy="261610"/>
          </a:xfrm>
          <a:prstGeom prst="rect">
            <a:avLst/>
          </a:prstGeom>
          <a:noFill/>
        </p:spPr>
        <p:txBody>
          <a:bodyPr wrap="square" lIns="0" tIns="0" rIns="0" bIns="0" anchor="ctr">
            <a:spAutoFit/>
          </a:bodyPr>
          <a:lstStyle/>
          <a:p>
            <a:pPr algn="l"/>
            <a:r>
              <a:rPr sz="1700" b="1" dirty="0">
                <a:solidFill>
                  <a:srgbClr val="F8F9FC"/>
                </a:solidFill>
                <a:latin typeface="Arial"/>
              </a:rPr>
              <a:t>Xu </a:t>
            </a:r>
            <a:r>
              <a:rPr sz="1700" b="1" dirty="0" err="1">
                <a:solidFill>
                  <a:srgbClr val="F8F9FC"/>
                </a:solidFill>
                <a:latin typeface="Arial"/>
              </a:rPr>
              <a:t>hướng</a:t>
            </a:r>
            <a:r>
              <a:rPr sz="1700" b="1" dirty="0">
                <a:solidFill>
                  <a:srgbClr val="F8F9FC"/>
                </a:solidFill>
                <a:latin typeface="Arial"/>
              </a:rPr>
              <a:t> </a:t>
            </a:r>
            <a:r>
              <a:rPr sz="1700" b="1" dirty="0" err="1">
                <a:solidFill>
                  <a:srgbClr val="F8F9FC"/>
                </a:solidFill>
                <a:latin typeface="Arial"/>
              </a:rPr>
              <a:t>sử</a:t>
            </a:r>
            <a:r>
              <a:rPr sz="1700" b="1" dirty="0">
                <a:solidFill>
                  <a:srgbClr val="F8F9FC"/>
                </a:solidFill>
                <a:latin typeface="Arial"/>
              </a:rPr>
              <a:t> </a:t>
            </a:r>
            <a:r>
              <a:rPr sz="1700" b="1" dirty="0" err="1">
                <a:solidFill>
                  <a:srgbClr val="F8F9FC"/>
                </a:solidFill>
                <a:latin typeface="Arial"/>
              </a:rPr>
              <a:t>dụng</a:t>
            </a:r>
            <a:r>
              <a:rPr sz="1700" b="1" dirty="0">
                <a:solidFill>
                  <a:srgbClr val="F8F9FC"/>
                </a:solidFill>
                <a:latin typeface="Arial"/>
              </a:rPr>
              <a:t> AI </a:t>
            </a:r>
            <a:r>
              <a:rPr sz="1700" b="1" dirty="0" err="1">
                <a:solidFill>
                  <a:srgbClr val="F8F9FC"/>
                </a:solidFill>
                <a:latin typeface="Arial"/>
              </a:rPr>
              <a:t>trong</a:t>
            </a:r>
            <a:r>
              <a:rPr sz="1700" b="1" dirty="0">
                <a:solidFill>
                  <a:srgbClr val="F8F9FC"/>
                </a:solidFill>
                <a:latin typeface="Arial"/>
              </a:rPr>
              <a:t> </a:t>
            </a:r>
            <a:r>
              <a:rPr sz="1700" b="1" dirty="0" err="1">
                <a:solidFill>
                  <a:srgbClr val="F8F9FC"/>
                </a:solidFill>
                <a:latin typeface="Arial"/>
              </a:rPr>
              <a:t>bảo</a:t>
            </a:r>
            <a:r>
              <a:rPr sz="1700" b="1" dirty="0">
                <a:solidFill>
                  <a:srgbClr val="F8F9FC"/>
                </a:solidFill>
                <a:latin typeface="Arial"/>
              </a:rPr>
              <a:t> </a:t>
            </a:r>
            <a:r>
              <a:rPr sz="1700" b="1" dirty="0" err="1">
                <a:solidFill>
                  <a:srgbClr val="F8F9FC"/>
                </a:solidFill>
                <a:latin typeface="Arial"/>
              </a:rPr>
              <a:t>mật</a:t>
            </a:r>
            <a:endParaRPr sz="1700" b="1" dirty="0">
              <a:solidFill>
                <a:srgbClr val="F8F9FC"/>
              </a:solidFill>
              <a:latin typeface="Arial"/>
            </a:endParaRPr>
          </a:p>
        </p:txBody>
      </p:sp>
      <p:sp>
        <p:nvSpPr>
          <p:cNvPr id="13" name="TextBox 12"/>
          <p:cNvSpPr txBox="1"/>
          <p:nvPr/>
        </p:nvSpPr>
        <p:spPr>
          <a:xfrm>
            <a:off x="7746999" y="2524125"/>
            <a:ext cx="3428999" cy="920750"/>
          </a:xfrm>
          <a:prstGeom prst="rect">
            <a:avLst/>
          </a:prstGeom>
          <a:noFill/>
        </p:spPr>
        <p:txBody>
          <a:bodyPr wrap="square" lIns="0" tIns="0" rIns="0" bIns="0" anchor="ctr">
            <a:spAutoFit/>
          </a:bodyPr>
          <a:lstStyle/>
          <a:p>
            <a:pPr algn="l"/>
            <a:r>
              <a:rPr sz="1500" b="0" dirty="0">
                <a:solidFill>
                  <a:srgbClr val="F8F9FC"/>
                </a:solidFill>
                <a:latin typeface="Arial"/>
              </a:rPr>
              <a:t>• </a:t>
            </a:r>
            <a:r>
              <a:rPr sz="1500" b="0" dirty="0" err="1">
                <a:solidFill>
                  <a:srgbClr val="F8F9FC"/>
                </a:solidFill>
                <a:latin typeface="Arial"/>
              </a:rPr>
              <a:t>Ứng</a:t>
            </a:r>
            <a:r>
              <a:rPr sz="1500" b="0" dirty="0">
                <a:solidFill>
                  <a:srgbClr val="F8F9FC"/>
                </a:solidFill>
                <a:latin typeface="Arial"/>
              </a:rPr>
              <a:t> </a:t>
            </a:r>
            <a:r>
              <a:rPr sz="1500" b="0" dirty="0" err="1">
                <a:solidFill>
                  <a:srgbClr val="F8F9FC"/>
                </a:solidFill>
                <a:latin typeface="Arial"/>
              </a:rPr>
              <a:t>dụng</a:t>
            </a:r>
            <a:r>
              <a:rPr sz="1500" b="0" dirty="0">
                <a:solidFill>
                  <a:srgbClr val="F8F9FC"/>
                </a:solidFill>
                <a:latin typeface="Arial"/>
              </a:rPr>
              <a:t> Học </a:t>
            </a:r>
            <a:r>
              <a:rPr sz="1500" b="0" dirty="0" err="1">
                <a:solidFill>
                  <a:srgbClr val="F8F9FC"/>
                </a:solidFill>
                <a:latin typeface="Arial"/>
              </a:rPr>
              <a:t>sâu</a:t>
            </a:r>
            <a:r>
              <a:rPr sz="1500" b="0" dirty="0">
                <a:solidFill>
                  <a:srgbClr val="F8F9FC"/>
                </a:solidFill>
                <a:latin typeface="Arial"/>
              </a:rPr>
              <a:t> </a:t>
            </a:r>
            <a:r>
              <a:rPr sz="1500" b="0" dirty="0" err="1">
                <a:solidFill>
                  <a:srgbClr val="F8F9FC"/>
                </a:solidFill>
                <a:latin typeface="Arial"/>
              </a:rPr>
              <a:t>và</a:t>
            </a:r>
            <a:r>
              <a:rPr sz="1500" b="0" dirty="0">
                <a:solidFill>
                  <a:srgbClr val="F8F9FC"/>
                </a:solidFill>
                <a:latin typeface="Arial"/>
              </a:rPr>
              <a:t> NLP </a:t>
            </a:r>
            <a:r>
              <a:rPr sz="1500" b="0" dirty="0" err="1">
                <a:solidFill>
                  <a:srgbClr val="F8F9FC"/>
                </a:solidFill>
                <a:latin typeface="Arial"/>
              </a:rPr>
              <a:t>giúp</a:t>
            </a:r>
            <a:r>
              <a:rPr sz="1500" b="0" dirty="0">
                <a:solidFill>
                  <a:srgbClr val="F8F9FC"/>
                </a:solidFill>
                <a:latin typeface="Arial"/>
              </a:rPr>
              <a:t> </a:t>
            </a:r>
            <a:r>
              <a:rPr sz="1500" b="0" dirty="0" err="1">
                <a:solidFill>
                  <a:srgbClr val="F8F9FC"/>
                </a:solidFill>
                <a:latin typeface="Arial"/>
              </a:rPr>
              <a:t>phát</a:t>
            </a:r>
            <a:r>
              <a:rPr sz="1500" b="0" dirty="0">
                <a:solidFill>
                  <a:srgbClr val="F8F9FC"/>
                </a:solidFill>
                <a:latin typeface="Arial"/>
              </a:rPr>
              <a:t> </a:t>
            </a:r>
            <a:r>
              <a:rPr sz="1500" b="0" dirty="0" err="1">
                <a:solidFill>
                  <a:srgbClr val="F8F9FC"/>
                </a:solidFill>
                <a:latin typeface="Arial"/>
              </a:rPr>
              <a:t>hiện</a:t>
            </a:r>
            <a:r>
              <a:rPr sz="1500" b="0" dirty="0">
                <a:solidFill>
                  <a:srgbClr val="F8F9FC"/>
                </a:solidFill>
                <a:latin typeface="Arial"/>
              </a:rPr>
              <a:t> </a:t>
            </a:r>
            <a:r>
              <a:rPr sz="1500" b="0" dirty="0" err="1">
                <a:solidFill>
                  <a:srgbClr val="F8F9FC"/>
                </a:solidFill>
                <a:latin typeface="Arial"/>
              </a:rPr>
              <a:t>lỗi</a:t>
            </a:r>
            <a:r>
              <a:rPr sz="1500" b="0" dirty="0">
                <a:solidFill>
                  <a:srgbClr val="F8F9FC"/>
                </a:solidFill>
                <a:latin typeface="Arial"/>
              </a:rPr>
              <a:t> </a:t>
            </a:r>
            <a:r>
              <a:rPr sz="1500" b="0" dirty="0" err="1">
                <a:solidFill>
                  <a:srgbClr val="F8F9FC"/>
                </a:solidFill>
                <a:latin typeface="Arial"/>
              </a:rPr>
              <a:t>tự</a:t>
            </a:r>
            <a:r>
              <a:rPr sz="1500" b="0" dirty="0">
                <a:solidFill>
                  <a:srgbClr val="F8F9FC"/>
                </a:solidFill>
                <a:latin typeface="Arial"/>
              </a:rPr>
              <a:t>
</a:t>
            </a:r>
            <a:r>
              <a:rPr sz="1500" b="0" dirty="0" err="1">
                <a:solidFill>
                  <a:srgbClr val="F8F9FC"/>
                </a:solidFill>
                <a:latin typeface="Arial"/>
              </a:rPr>
              <a:t>động</a:t>
            </a:r>
            <a:r>
              <a:rPr sz="1500" b="0" dirty="0">
                <a:solidFill>
                  <a:srgbClr val="F8F9FC"/>
                </a:solidFill>
                <a:latin typeface="Arial"/>
              </a:rPr>
              <a:t>, </a:t>
            </a:r>
            <a:r>
              <a:rPr sz="1500" b="0" dirty="0" err="1">
                <a:solidFill>
                  <a:srgbClr val="F8F9FC"/>
                </a:solidFill>
                <a:latin typeface="Arial"/>
              </a:rPr>
              <a:t>giảm</a:t>
            </a:r>
            <a:r>
              <a:rPr sz="1500" b="0" dirty="0">
                <a:solidFill>
                  <a:srgbClr val="F8F9FC"/>
                </a:solidFill>
                <a:latin typeface="Arial"/>
              </a:rPr>
              <a:t> </a:t>
            </a:r>
            <a:r>
              <a:rPr sz="1500" b="0" dirty="0" err="1">
                <a:solidFill>
                  <a:srgbClr val="F8F9FC"/>
                </a:solidFill>
                <a:latin typeface="Arial"/>
              </a:rPr>
              <a:t>thiểu</a:t>
            </a:r>
            <a:r>
              <a:rPr sz="1500" b="0" dirty="0">
                <a:solidFill>
                  <a:srgbClr val="F8F9FC"/>
                </a:solidFill>
                <a:latin typeface="Arial"/>
              </a:rPr>
              <a:t> </a:t>
            </a:r>
            <a:r>
              <a:rPr sz="1500" b="0" dirty="0" err="1">
                <a:solidFill>
                  <a:srgbClr val="F8F9FC"/>
                </a:solidFill>
                <a:latin typeface="Arial"/>
              </a:rPr>
              <a:t>cảnh</a:t>
            </a:r>
            <a:r>
              <a:rPr sz="1500" b="0" dirty="0">
                <a:solidFill>
                  <a:srgbClr val="F8F9FC"/>
                </a:solidFill>
                <a:latin typeface="Arial"/>
              </a:rPr>
              <a:t> </a:t>
            </a:r>
            <a:r>
              <a:rPr sz="1500" b="0" dirty="0" err="1">
                <a:solidFill>
                  <a:srgbClr val="F8F9FC"/>
                </a:solidFill>
                <a:latin typeface="Arial"/>
              </a:rPr>
              <a:t>báo</a:t>
            </a:r>
            <a:r>
              <a:rPr sz="1500" b="0" dirty="0">
                <a:solidFill>
                  <a:srgbClr val="F8F9FC"/>
                </a:solidFill>
                <a:latin typeface="Arial"/>
              </a:rPr>
              <a:t> </a:t>
            </a:r>
            <a:r>
              <a:rPr sz="1500" b="0" dirty="0" err="1">
                <a:solidFill>
                  <a:srgbClr val="F8F9FC"/>
                </a:solidFill>
                <a:latin typeface="Arial"/>
              </a:rPr>
              <a:t>giả</a:t>
            </a:r>
            <a:r>
              <a:rPr sz="1500" b="0" dirty="0">
                <a:solidFill>
                  <a:srgbClr val="F8F9FC"/>
                </a:solidFill>
                <a:latin typeface="Arial"/>
              </a:rPr>
              <a:t> </a:t>
            </a:r>
            <a:r>
              <a:rPr sz="1500" b="0" dirty="0" err="1">
                <a:solidFill>
                  <a:srgbClr val="F8F9FC"/>
                </a:solidFill>
                <a:latin typeface="Arial"/>
              </a:rPr>
              <a:t>và</a:t>
            </a:r>
            <a:r>
              <a:rPr sz="1500" b="0" dirty="0">
                <a:solidFill>
                  <a:srgbClr val="F8F9FC"/>
                </a:solidFill>
                <a:latin typeface="Arial"/>
              </a:rPr>
              <a:t> </a:t>
            </a:r>
            <a:r>
              <a:rPr sz="1500" b="0" dirty="0" err="1">
                <a:solidFill>
                  <a:srgbClr val="F8F9FC"/>
                </a:solidFill>
                <a:latin typeface="Arial"/>
              </a:rPr>
              <a:t>nâng</a:t>
            </a:r>
            <a:r>
              <a:rPr sz="1500" b="0" dirty="0">
                <a:solidFill>
                  <a:srgbClr val="F8F9FC"/>
                </a:solidFill>
                <a:latin typeface="Arial"/>
              </a:rPr>
              <a:t> </a:t>
            </a:r>
            <a:r>
              <a:rPr sz="1500" b="0" dirty="0" err="1">
                <a:solidFill>
                  <a:srgbClr val="F8F9FC"/>
                </a:solidFill>
                <a:latin typeface="Arial"/>
              </a:rPr>
              <a:t>cao</a:t>
            </a:r>
            <a:r>
              <a:rPr sz="1500" b="0" dirty="0">
                <a:solidFill>
                  <a:srgbClr val="F8F9FC"/>
                </a:solidFill>
                <a:latin typeface="Arial"/>
              </a:rPr>
              <a:t> </a:t>
            </a:r>
            <a:r>
              <a:rPr sz="1500" b="0" dirty="0" err="1">
                <a:solidFill>
                  <a:srgbClr val="F8F9FC"/>
                </a:solidFill>
                <a:latin typeface="Arial"/>
              </a:rPr>
              <a:t>chính</a:t>
            </a:r>
            <a:r>
              <a:rPr sz="1500" b="0" dirty="0">
                <a:solidFill>
                  <a:srgbClr val="F8F9FC"/>
                </a:solidFill>
                <a:latin typeface="Arial"/>
              </a:rPr>
              <a:t> </a:t>
            </a:r>
            <a:r>
              <a:rPr sz="1500" b="0" dirty="0" err="1">
                <a:solidFill>
                  <a:srgbClr val="F8F9FC"/>
                </a:solidFill>
                <a:latin typeface="Arial"/>
              </a:rPr>
              <a:t>xác</a:t>
            </a:r>
            <a:r>
              <a:rPr sz="1500" b="0" dirty="0">
                <a:solidFill>
                  <a:srgbClr val="F8F9FC"/>
                </a:solidFill>
                <a:latin typeface="Arial"/>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698499" y="730250"/>
            <a:ext cx="7492999" cy="857250"/>
          </a:xfrm>
          <a:prstGeom prst="rect">
            <a:avLst/>
          </a:prstGeom>
          <a:solidFill>
            <a:srgbClr val="06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285999" y="1682750"/>
            <a:ext cx="5079999" cy="1143000"/>
          </a:xfrm>
          <a:prstGeom prst="rect">
            <a:avLst/>
          </a:prstGeom>
          <a:solidFill>
            <a:srgbClr val="06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632994" y="2809874"/>
            <a:ext cx="5206999" cy="1460501"/>
          </a:xfrm>
          <a:prstGeom prst="rect">
            <a:avLst/>
          </a:prstGeom>
          <a:solidFill>
            <a:srgbClr val="06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174999" y="4286250"/>
            <a:ext cx="5714999" cy="1238250"/>
          </a:xfrm>
          <a:prstGeom prst="rect">
            <a:avLst/>
          </a:prstGeom>
          <a:solidFill>
            <a:srgbClr val="06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0749" y="889000"/>
            <a:ext cx="6984999" cy="412749"/>
          </a:xfrm>
          <a:prstGeom prst="rect">
            <a:avLst/>
          </a:prstGeom>
          <a:noFill/>
        </p:spPr>
        <p:txBody>
          <a:bodyPr wrap="square" lIns="0" tIns="0" rIns="0" bIns="0" anchor="ctr">
            <a:spAutoFit/>
          </a:bodyPr>
          <a:lstStyle/>
          <a:p>
            <a:pPr algn="l"/>
            <a:r>
              <a:rPr sz="2500" b="1">
                <a:solidFill>
                  <a:srgbClr val="F8F9FC"/>
                </a:solidFill>
                <a:latin typeface="Arial"/>
              </a:rPr>
              <a:t>Nhu cầu và quy tắc trong vùng phát hiện lỗi</a:t>
            </a:r>
          </a:p>
        </p:txBody>
      </p:sp>
      <p:sp>
        <p:nvSpPr>
          <p:cNvPr id="8" name="TextBox 7"/>
          <p:cNvSpPr txBox="1"/>
          <p:nvPr/>
        </p:nvSpPr>
        <p:spPr>
          <a:xfrm>
            <a:off x="2476499" y="1841500"/>
            <a:ext cx="4127499" cy="349250"/>
          </a:xfrm>
          <a:prstGeom prst="rect">
            <a:avLst/>
          </a:prstGeom>
          <a:noFill/>
        </p:spPr>
        <p:txBody>
          <a:bodyPr wrap="square" lIns="0" tIns="0" rIns="0" bIns="0" anchor="ctr">
            <a:spAutoFit/>
          </a:bodyPr>
          <a:lstStyle/>
          <a:p>
            <a:pPr algn="l"/>
            <a:r>
              <a:rPr sz="1700" b="1">
                <a:solidFill>
                  <a:srgbClr val="F8F9FC"/>
                </a:solidFill>
                <a:latin typeface="Arial"/>
              </a:rPr>
              <a:t>Phương pháp truyền tải</a:t>
            </a:r>
          </a:p>
        </p:txBody>
      </p:sp>
      <p:sp>
        <p:nvSpPr>
          <p:cNvPr id="9" name="TextBox 8"/>
          <p:cNvSpPr txBox="1"/>
          <p:nvPr/>
        </p:nvSpPr>
        <p:spPr>
          <a:xfrm>
            <a:off x="2571749" y="2127250"/>
            <a:ext cx="4571999" cy="603250"/>
          </a:xfrm>
          <a:prstGeom prst="rect">
            <a:avLst/>
          </a:prstGeom>
          <a:noFill/>
        </p:spPr>
        <p:txBody>
          <a:bodyPr wrap="square" lIns="0" tIns="0" rIns="0" bIns="0" anchor="ctr">
            <a:spAutoFit/>
          </a:bodyPr>
          <a:lstStyle/>
          <a:p>
            <a:pPr algn="l"/>
            <a:r>
              <a:rPr sz="1500" b="0" dirty="0">
                <a:solidFill>
                  <a:srgbClr val="F8F9FC"/>
                </a:solidFill>
                <a:latin typeface="Arial"/>
              </a:rPr>
              <a:t>• </a:t>
            </a:r>
            <a:r>
              <a:rPr sz="1500" b="0" dirty="0" err="1">
                <a:solidFill>
                  <a:srgbClr val="F8F9FC"/>
                </a:solidFill>
                <a:latin typeface="Arial"/>
              </a:rPr>
              <a:t>Phân</a:t>
            </a:r>
            <a:r>
              <a:rPr sz="1500" b="0" dirty="0">
                <a:solidFill>
                  <a:srgbClr val="F8F9FC"/>
                </a:solidFill>
                <a:latin typeface="Arial"/>
              </a:rPr>
              <a:t> </a:t>
            </a:r>
            <a:r>
              <a:rPr sz="1500" b="0" dirty="0" err="1">
                <a:solidFill>
                  <a:srgbClr val="F8F9FC"/>
                </a:solidFill>
                <a:latin typeface="Arial"/>
              </a:rPr>
              <a:t>tích</a:t>
            </a:r>
            <a:r>
              <a:rPr sz="1500" b="0" dirty="0">
                <a:solidFill>
                  <a:srgbClr val="F8F9FC"/>
                </a:solidFill>
                <a:latin typeface="Arial"/>
              </a:rPr>
              <a:t> </a:t>
            </a:r>
            <a:r>
              <a:rPr sz="1500" b="0" dirty="0" err="1">
                <a:solidFill>
                  <a:srgbClr val="F8F9FC"/>
                </a:solidFill>
                <a:latin typeface="Arial"/>
              </a:rPr>
              <a:t>tĩnh</a:t>
            </a:r>
            <a:r>
              <a:rPr sz="1500" b="0" dirty="0">
                <a:solidFill>
                  <a:srgbClr val="F8F9FC"/>
                </a:solidFill>
                <a:latin typeface="Arial"/>
              </a:rPr>
              <a:t> </a:t>
            </a:r>
            <a:r>
              <a:rPr sz="1500" b="0" dirty="0" err="1">
                <a:solidFill>
                  <a:srgbClr val="F8F9FC"/>
                </a:solidFill>
                <a:latin typeface="Arial"/>
              </a:rPr>
              <a:t>và</a:t>
            </a:r>
            <a:r>
              <a:rPr sz="1500" b="0" dirty="0">
                <a:solidFill>
                  <a:srgbClr val="F8F9FC"/>
                </a:solidFill>
                <a:latin typeface="Arial"/>
              </a:rPr>
              <a:t> </a:t>
            </a:r>
            <a:r>
              <a:rPr sz="1500" b="0" dirty="0" err="1">
                <a:solidFill>
                  <a:srgbClr val="F8F9FC"/>
                </a:solidFill>
                <a:latin typeface="Arial"/>
              </a:rPr>
              <a:t>nhiều</a:t>
            </a:r>
            <a:r>
              <a:rPr sz="1500" b="0" dirty="0">
                <a:solidFill>
                  <a:srgbClr val="F8F9FC"/>
                </a:solidFill>
                <a:latin typeface="Arial"/>
              </a:rPr>
              <a:t> </a:t>
            </a:r>
            <a:r>
              <a:rPr sz="1500" b="0" dirty="0" err="1">
                <a:solidFill>
                  <a:srgbClr val="F8F9FC"/>
                </a:solidFill>
                <a:latin typeface="Arial"/>
              </a:rPr>
              <a:t>tài</a:t>
            </a:r>
            <a:r>
              <a:rPr sz="1500" b="0" dirty="0">
                <a:solidFill>
                  <a:srgbClr val="F8F9FC"/>
                </a:solidFill>
                <a:latin typeface="Arial"/>
              </a:rPr>
              <a:t> </a:t>
            </a:r>
            <a:r>
              <a:rPr sz="1500" b="0" dirty="0" err="1">
                <a:solidFill>
                  <a:srgbClr val="F8F9FC"/>
                </a:solidFill>
                <a:latin typeface="Arial"/>
              </a:rPr>
              <a:t>nguyên</a:t>
            </a:r>
            <a:r>
              <a:rPr sz="1500" b="0" dirty="0">
                <a:solidFill>
                  <a:srgbClr val="F8F9FC"/>
                </a:solidFill>
                <a:latin typeface="Arial"/>
              </a:rPr>
              <a:t> </a:t>
            </a:r>
            <a:r>
              <a:rPr sz="1500" b="0" dirty="0" err="1">
                <a:solidFill>
                  <a:srgbClr val="F8F9FC"/>
                </a:solidFill>
                <a:latin typeface="Arial"/>
              </a:rPr>
              <a:t>đắt</a:t>
            </a:r>
            <a:r>
              <a:rPr sz="1500" b="0" dirty="0">
                <a:solidFill>
                  <a:srgbClr val="F8F9FC"/>
                </a:solidFill>
                <a:latin typeface="Arial"/>
              </a:rPr>
              <a:t> </a:t>
            </a:r>
            <a:r>
              <a:rPr sz="1500" b="0" dirty="0" err="1">
                <a:solidFill>
                  <a:srgbClr val="F8F9FC"/>
                </a:solidFill>
                <a:latin typeface="Arial"/>
              </a:rPr>
              <a:t>tiền</a:t>
            </a:r>
            <a:r>
              <a:rPr sz="1500" b="0" dirty="0">
                <a:solidFill>
                  <a:srgbClr val="F8F9FC"/>
                </a:solidFill>
                <a:latin typeface="Arial"/>
              </a:rPr>
              <a:t>, </a:t>
            </a:r>
            <a:r>
              <a:rPr sz="1500" b="0" dirty="0" err="1">
                <a:solidFill>
                  <a:srgbClr val="F8F9FC"/>
                </a:solidFill>
                <a:latin typeface="Arial"/>
              </a:rPr>
              <a:t>dễ</a:t>
            </a:r>
            <a:r>
              <a:rPr sz="1500" b="0" dirty="0">
                <a:solidFill>
                  <a:srgbClr val="F8F9FC"/>
                </a:solidFill>
                <a:latin typeface="Arial"/>
              </a:rPr>
              <a:t> </a:t>
            </a:r>
            <a:r>
              <a:rPr sz="1500" b="0" dirty="0" err="1">
                <a:solidFill>
                  <a:srgbClr val="F8F9FC"/>
                </a:solidFill>
                <a:latin typeface="Arial"/>
              </a:rPr>
              <a:t>sinh</a:t>
            </a:r>
            <a:r>
              <a:rPr sz="1500" b="0" dirty="0">
                <a:solidFill>
                  <a:srgbClr val="F8F9FC"/>
                </a:solidFill>
                <a:latin typeface="Arial"/>
              </a:rPr>
              <a:t>
</a:t>
            </a:r>
            <a:r>
              <a:rPr sz="1500" b="0" dirty="0" err="1">
                <a:solidFill>
                  <a:srgbClr val="F8F9FC"/>
                </a:solidFill>
                <a:latin typeface="Arial"/>
              </a:rPr>
              <a:t>cảnh</a:t>
            </a:r>
            <a:r>
              <a:rPr sz="1500" b="0" dirty="0">
                <a:solidFill>
                  <a:srgbClr val="F8F9FC"/>
                </a:solidFill>
                <a:latin typeface="Arial"/>
              </a:rPr>
              <a:t> </a:t>
            </a:r>
            <a:r>
              <a:rPr sz="1500" b="0" dirty="0" err="1">
                <a:solidFill>
                  <a:srgbClr val="F8F9FC"/>
                </a:solidFill>
                <a:latin typeface="Arial"/>
              </a:rPr>
              <a:t>báo</a:t>
            </a:r>
            <a:r>
              <a:rPr sz="1500" b="0" dirty="0">
                <a:solidFill>
                  <a:srgbClr val="F8F9FC"/>
                </a:solidFill>
                <a:latin typeface="Arial"/>
              </a:rPr>
              <a:t> </a:t>
            </a:r>
            <a:r>
              <a:rPr sz="1500" b="0" dirty="0" err="1">
                <a:solidFill>
                  <a:srgbClr val="F8F9FC"/>
                </a:solidFill>
                <a:latin typeface="Arial"/>
              </a:rPr>
              <a:t>giả</a:t>
            </a:r>
            <a:r>
              <a:rPr sz="1500" b="0" dirty="0">
                <a:solidFill>
                  <a:srgbClr val="F8F9FC"/>
                </a:solidFill>
                <a:latin typeface="Arial"/>
              </a:rPr>
              <a:t> </a:t>
            </a:r>
            <a:r>
              <a:rPr sz="1500" b="0" dirty="0" err="1">
                <a:solidFill>
                  <a:srgbClr val="F8F9FC"/>
                </a:solidFill>
                <a:latin typeface="Arial"/>
              </a:rPr>
              <a:t>định</a:t>
            </a:r>
            <a:r>
              <a:rPr sz="1500" b="0" dirty="0">
                <a:solidFill>
                  <a:srgbClr val="F8F9FC"/>
                </a:solidFill>
                <a:latin typeface="Arial"/>
              </a:rPr>
              <a:t>, </a:t>
            </a:r>
            <a:r>
              <a:rPr sz="1500" b="0" dirty="0" err="1">
                <a:solidFill>
                  <a:srgbClr val="F8F9FC"/>
                </a:solidFill>
                <a:latin typeface="Arial"/>
              </a:rPr>
              <a:t>hạn</a:t>
            </a:r>
            <a:r>
              <a:rPr sz="1500" b="0" dirty="0">
                <a:solidFill>
                  <a:srgbClr val="F8F9FC"/>
                </a:solidFill>
                <a:latin typeface="Arial"/>
              </a:rPr>
              <a:t> </a:t>
            </a:r>
            <a:r>
              <a:rPr sz="1500" b="0" dirty="0" err="1">
                <a:solidFill>
                  <a:srgbClr val="F8F9FC"/>
                </a:solidFill>
                <a:latin typeface="Arial"/>
              </a:rPr>
              <a:t>chế</a:t>
            </a:r>
            <a:r>
              <a:rPr sz="1500" b="0" dirty="0">
                <a:solidFill>
                  <a:srgbClr val="F8F9FC"/>
                </a:solidFill>
                <a:latin typeface="Arial"/>
              </a:rPr>
              <a:t> </a:t>
            </a:r>
            <a:r>
              <a:rPr sz="1500" b="0" dirty="0" err="1">
                <a:solidFill>
                  <a:srgbClr val="F8F9FC"/>
                </a:solidFill>
                <a:latin typeface="Arial"/>
              </a:rPr>
              <a:t>khả</a:t>
            </a:r>
            <a:r>
              <a:rPr sz="1500" b="0" dirty="0">
                <a:solidFill>
                  <a:srgbClr val="F8F9FC"/>
                </a:solidFill>
                <a:latin typeface="Arial"/>
              </a:rPr>
              <a:t> </a:t>
            </a:r>
            <a:r>
              <a:rPr sz="1500" b="0" dirty="0" err="1">
                <a:solidFill>
                  <a:srgbClr val="F8F9FC"/>
                </a:solidFill>
                <a:latin typeface="Arial"/>
              </a:rPr>
              <a:t>năng</a:t>
            </a:r>
            <a:r>
              <a:rPr sz="1500" b="0" dirty="0">
                <a:solidFill>
                  <a:srgbClr val="F8F9FC"/>
                </a:solidFill>
                <a:latin typeface="Arial"/>
              </a:rPr>
              <a:t> </a:t>
            </a:r>
            <a:r>
              <a:rPr sz="1500" b="0" dirty="0" err="1">
                <a:solidFill>
                  <a:srgbClr val="F8F9FC"/>
                </a:solidFill>
                <a:latin typeface="Arial"/>
              </a:rPr>
              <a:t>tự</a:t>
            </a:r>
            <a:r>
              <a:rPr sz="1500" b="0" dirty="0">
                <a:solidFill>
                  <a:srgbClr val="F8F9FC"/>
                </a:solidFill>
                <a:latin typeface="Arial"/>
              </a:rPr>
              <a:t> </a:t>
            </a:r>
            <a:r>
              <a:rPr sz="1500" b="0" dirty="0" err="1">
                <a:solidFill>
                  <a:srgbClr val="F8F9FC"/>
                </a:solidFill>
                <a:latin typeface="Arial"/>
              </a:rPr>
              <a:t>động</a:t>
            </a:r>
            <a:r>
              <a:rPr sz="1500" b="0" dirty="0">
                <a:solidFill>
                  <a:srgbClr val="F8F9FC"/>
                </a:solidFill>
                <a:latin typeface="Arial"/>
              </a:rPr>
              <a:t> </a:t>
            </a:r>
            <a:r>
              <a:rPr sz="1500" b="0" dirty="0" err="1">
                <a:solidFill>
                  <a:srgbClr val="F8F9FC"/>
                </a:solidFill>
                <a:latin typeface="Arial"/>
              </a:rPr>
              <a:t>hóa</a:t>
            </a:r>
            <a:r>
              <a:rPr sz="1500" b="0" dirty="0">
                <a:solidFill>
                  <a:srgbClr val="F8F9FC"/>
                </a:solidFill>
                <a:latin typeface="Arial"/>
              </a:rPr>
              <a:t>.</a:t>
            </a:r>
          </a:p>
        </p:txBody>
      </p:sp>
      <p:sp>
        <p:nvSpPr>
          <p:cNvPr id="10" name="TextBox 9"/>
          <p:cNvSpPr txBox="1"/>
          <p:nvPr/>
        </p:nvSpPr>
        <p:spPr>
          <a:xfrm>
            <a:off x="2791744" y="2968625"/>
            <a:ext cx="4127499" cy="349250"/>
          </a:xfrm>
          <a:prstGeom prst="rect">
            <a:avLst/>
          </a:prstGeom>
          <a:noFill/>
        </p:spPr>
        <p:txBody>
          <a:bodyPr wrap="square" lIns="0" tIns="0" rIns="0" bIns="0" anchor="ctr">
            <a:spAutoFit/>
          </a:bodyPr>
          <a:lstStyle/>
          <a:p>
            <a:pPr algn="l"/>
            <a:r>
              <a:rPr sz="1700" b="1" dirty="0">
                <a:solidFill>
                  <a:srgbClr val="F8F9FC"/>
                </a:solidFill>
                <a:latin typeface="Arial"/>
              </a:rPr>
              <a:t>Nhu </a:t>
            </a:r>
            <a:r>
              <a:rPr sz="1700" b="1" dirty="0" err="1">
                <a:solidFill>
                  <a:srgbClr val="F8F9FC"/>
                </a:solidFill>
                <a:latin typeface="Arial"/>
              </a:rPr>
              <a:t>cầu</a:t>
            </a:r>
            <a:r>
              <a:rPr sz="1700" b="1" dirty="0">
                <a:solidFill>
                  <a:srgbClr val="F8F9FC"/>
                </a:solidFill>
                <a:latin typeface="Arial"/>
              </a:rPr>
              <a:t> </a:t>
            </a:r>
            <a:r>
              <a:rPr sz="1700" b="1" dirty="0" err="1">
                <a:solidFill>
                  <a:srgbClr val="F8F9FC"/>
                </a:solidFill>
                <a:latin typeface="Arial"/>
              </a:rPr>
              <a:t>tự</a:t>
            </a:r>
            <a:r>
              <a:rPr sz="1700" b="1" dirty="0">
                <a:solidFill>
                  <a:srgbClr val="F8F9FC"/>
                </a:solidFill>
                <a:latin typeface="Arial"/>
              </a:rPr>
              <a:t> </a:t>
            </a:r>
            <a:r>
              <a:rPr sz="1700" b="1" dirty="0" err="1">
                <a:solidFill>
                  <a:srgbClr val="F8F9FC"/>
                </a:solidFill>
                <a:latin typeface="Arial"/>
              </a:rPr>
              <a:t>nhiên</a:t>
            </a:r>
            <a:r>
              <a:rPr sz="1700" b="1" dirty="0">
                <a:solidFill>
                  <a:srgbClr val="F8F9FC"/>
                </a:solidFill>
                <a:latin typeface="Arial"/>
              </a:rPr>
              <a:t> </a:t>
            </a:r>
            <a:r>
              <a:rPr sz="1700" b="1" dirty="0" err="1">
                <a:solidFill>
                  <a:srgbClr val="F8F9FC"/>
                </a:solidFill>
                <a:latin typeface="Arial"/>
              </a:rPr>
              <a:t>hóa</a:t>
            </a:r>
            <a:endParaRPr sz="1700" b="1" dirty="0">
              <a:solidFill>
                <a:srgbClr val="F8F9FC"/>
              </a:solidFill>
              <a:latin typeface="Arial"/>
            </a:endParaRPr>
          </a:p>
        </p:txBody>
      </p:sp>
      <p:sp>
        <p:nvSpPr>
          <p:cNvPr id="11" name="TextBox 10"/>
          <p:cNvSpPr txBox="1"/>
          <p:nvPr/>
        </p:nvSpPr>
        <p:spPr>
          <a:xfrm>
            <a:off x="2886994" y="3254375"/>
            <a:ext cx="4635499" cy="635000"/>
          </a:xfrm>
          <a:prstGeom prst="rect">
            <a:avLst/>
          </a:prstGeom>
          <a:noFill/>
        </p:spPr>
        <p:txBody>
          <a:bodyPr wrap="square" lIns="0" tIns="0" rIns="0" bIns="0" anchor="ctr">
            <a:spAutoFit/>
          </a:bodyPr>
          <a:lstStyle/>
          <a:p>
            <a:pPr algn="l"/>
            <a:r>
              <a:rPr sz="1500" b="0" dirty="0">
                <a:solidFill>
                  <a:srgbClr val="F8F9FC"/>
                </a:solidFill>
                <a:latin typeface="Arial"/>
              </a:rPr>
              <a:t>• </a:t>
            </a:r>
            <a:r>
              <a:rPr sz="1500" b="0" dirty="0" err="1">
                <a:solidFill>
                  <a:srgbClr val="F8F9FC"/>
                </a:solidFill>
                <a:latin typeface="Arial"/>
              </a:rPr>
              <a:t>Trích</a:t>
            </a:r>
            <a:r>
              <a:rPr sz="1500" b="0" dirty="0">
                <a:solidFill>
                  <a:srgbClr val="F8F9FC"/>
                </a:solidFill>
                <a:latin typeface="Arial"/>
              </a:rPr>
              <a:t> </a:t>
            </a:r>
            <a:r>
              <a:rPr sz="1500" b="0" dirty="0" err="1">
                <a:solidFill>
                  <a:srgbClr val="F8F9FC"/>
                </a:solidFill>
                <a:latin typeface="Arial"/>
              </a:rPr>
              <a:t>xuất</a:t>
            </a:r>
            <a:r>
              <a:rPr sz="1500" b="0" dirty="0">
                <a:solidFill>
                  <a:srgbClr val="F8F9FC"/>
                </a:solidFill>
                <a:latin typeface="Arial"/>
              </a:rPr>
              <a:t> </a:t>
            </a:r>
            <a:r>
              <a:rPr sz="1500" b="0" dirty="0" err="1">
                <a:solidFill>
                  <a:srgbClr val="F8F9FC"/>
                </a:solidFill>
                <a:latin typeface="Arial"/>
              </a:rPr>
              <a:t>mã</a:t>
            </a:r>
            <a:r>
              <a:rPr sz="1500" b="0" dirty="0">
                <a:solidFill>
                  <a:srgbClr val="F8F9FC"/>
                </a:solidFill>
                <a:latin typeface="Arial"/>
              </a:rPr>
              <a:t> </a:t>
            </a:r>
            <a:r>
              <a:rPr sz="1500" b="0" dirty="0" err="1">
                <a:solidFill>
                  <a:srgbClr val="F8F9FC"/>
                </a:solidFill>
                <a:latin typeface="Arial"/>
              </a:rPr>
              <a:t>nguồn</a:t>
            </a:r>
            <a:r>
              <a:rPr sz="1500" b="0" dirty="0">
                <a:solidFill>
                  <a:srgbClr val="F8F9FC"/>
                </a:solidFill>
                <a:latin typeface="Arial"/>
              </a:rPr>
              <a:t> </a:t>
            </a:r>
            <a:r>
              <a:rPr sz="1500" b="0" dirty="0" err="1">
                <a:solidFill>
                  <a:srgbClr val="F8F9FC"/>
                </a:solidFill>
                <a:latin typeface="Arial"/>
              </a:rPr>
              <a:t>đặc</a:t>
            </a:r>
            <a:r>
              <a:rPr sz="1500" b="0" dirty="0">
                <a:solidFill>
                  <a:srgbClr val="F8F9FC"/>
                </a:solidFill>
                <a:latin typeface="Arial"/>
              </a:rPr>
              <a:t> </a:t>
            </a:r>
            <a:r>
              <a:rPr sz="1500" b="0" dirty="0" err="1">
                <a:solidFill>
                  <a:srgbClr val="F8F9FC"/>
                </a:solidFill>
                <a:latin typeface="Arial"/>
              </a:rPr>
              <a:t>biệt</a:t>
            </a:r>
            <a:r>
              <a:rPr sz="1500" b="0" dirty="0">
                <a:solidFill>
                  <a:srgbClr val="F8F9FC"/>
                </a:solidFill>
                <a:latin typeface="Arial"/>
              </a:rPr>
              <a:t>, </a:t>
            </a:r>
            <a:r>
              <a:rPr sz="1500" b="0" dirty="0" err="1">
                <a:solidFill>
                  <a:srgbClr val="F8F9FC"/>
                </a:solidFill>
                <a:latin typeface="Arial"/>
              </a:rPr>
              <a:t>không</a:t>
            </a:r>
            <a:r>
              <a:rPr sz="1500" b="0" dirty="0">
                <a:solidFill>
                  <a:srgbClr val="F8F9FC"/>
                </a:solidFill>
                <a:latin typeface="Arial"/>
              </a:rPr>
              <a:t> </a:t>
            </a:r>
            <a:r>
              <a:rPr sz="1500" b="0" dirty="0" err="1">
                <a:solidFill>
                  <a:srgbClr val="F8F9FC"/>
                </a:solidFill>
                <a:latin typeface="Arial"/>
              </a:rPr>
              <a:t>phụ</a:t>
            </a:r>
            <a:r>
              <a:rPr sz="1500" b="0" dirty="0">
                <a:solidFill>
                  <a:srgbClr val="F8F9FC"/>
                </a:solidFill>
                <a:latin typeface="Arial"/>
              </a:rPr>
              <a:t> </a:t>
            </a:r>
            <a:r>
              <a:rPr sz="1500" b="0" dirty="0" err="1">
                <a:solidFill>
                  <a:srgbClr val="F8F9FC"/>
                </a:solidFill>
                <a:latin typeface="Arial"/>
              </a:rPr>
              <a:t>thuộc</a:t>
            </a:r>
            <a:r>
              <a:rPr sz="1500" b="0" dirty="0">
                <a:solidFill>
                  <a:srgbClr val="F8F9FC"/>
                </a:solidFill>
                <a:latin typeface="Arial"/>
              </a:rPr>
              <a:t> </a:t>
            </a:r>
            <a:r>
              <a:rPr sz="1500" b="0" dirty="0" err="1">
                <a:solidFill>
                  <a:srgbClr val="F8F9FC"/>
                </a:solidFill>
                <a:latin typeface="Arial"/>
              </a:rPr>
              <a:t>thủ</a:t>
            </a:r>
            <a:r>
              <a:rPr sz="1500" b="0" dirty="0">
                <a:solidFill>
                  <a:srgbClr val="F8F9FC"/>
                </a:solidFill>
                <a:latin typeface="Arial"/>
              </a:rPr>
              <a:t>
</a:t>
            </a:r>
            <a:r>
              <a:rPr sz="1500" b="0" dirty="0" err="1">
                <a:solidFill>
                  <a:srgbClr val="F8F9FC"/>
                </a:solidFill>
                <a:latin typeface="Arial"/>
              </a:rPr>
              <a:t>công</a:t>
            </a:r>
            <a:r>
              <a:rPr sz="1500" b="0" dirty="0">
                <a:solidFill>
                  <a:srgbClr val="F8F9FC"/>
                </a:solidFill>
                <a:latin typeface="Arial"/>
              </a:rPr>
              <a:t>, </a:t>
            </a:r>
            <a:r>
              <a:rPr sz="1500" b="0" dirty="0" err="1">
                <a:solidFill>
                  <a:srgbClr val="F8F9FC"/>
                </a:solidFill>
                <a:latin typeface="Arial"/>
              </a:rPr>
              <a:t>phát</a:t>
            </a:r>
            <a:r>
              <a:rPr sz="1500" b="0" dirty="0">
                <a:solidFill>
                  <a:srgbClr val="F8F9FC"/>
                </a:solidFill>
                <a:latin typeface="Arial"/>
              </a:rPr>
              <a:t> </a:t>
            </a:r>
            <a:r>
              <a:rPr sz="1500" b="0" dirty="0" err="1">
                <a:solidFill>
                  <a:srgbClr val="F8F9FC"/>
                </a:solidFill>
                <a:latin typeface="Arial"/>
              </a:rPr>
              <a:t>hiện</a:t>
            </a:r>
            <a:r>
              <a:rPr sz="1500" b="0" dirty="0">
                <a:solidFill>
                  <a:srgbClr val="F8F9FC"/>
                </a:solidFill>
                <a:latin typeface="Arial"/>
              </a:rPr>
              <a:t> </a:t>
            </a:r>
            <a:r>
              <a:rPr sz="1500" b="0" dirty="0" err="1">
                <a:solidFill>
                  <a:srgbClr val="F8F9FC"/>
                </a:solidFill>
                <a:latin typeface="Arial"/>
              </a:rPr>
              <a:t>lỗi</a:t>
            </a:r>
            <a:r>
              <a:rPr sz="1500" b="0" dirty="0">
                <a:solidFill>
                  <a:srgbClr val="F8F9FC"/>
                </a:solidFill>
                <a:latin typeface="Arial"/>
              </a:rPr>
              <a:t> </a:t>
            </a:r>
            <a:r>
              <a:rPr sz="1500" b="0" dirty="0" err="1">
                <a:solidFill>
                  <a:srgbClr val="F8F9FC"/>
                </a:solidFill>
                <a:latin typeface="Arial"/>
              </a:rPr>
              <a:t>nâng</a:t>
            </a:r>
            <a:r>
              <a:rPr sz="1500" b="0" dirty="0">
                <a:solidFill>
                  <a:srgbClr val="F8F9FC"/>
                </a:solidFill>
                <a:latin typeface="Arial"/>
              </a:rPr>
              <a:t> </a:t>
            </a:r>
            <a:r>
              <a:rPr sz="1500" b="0" dirty="0" err="1">
                <a:solidFill>
                  <a:srgbClr val="F8F9FC"/>
                </a:solidFill>
                <a:latin typeface="Arial"/>
              </a:rPr>
              <a:t>cao</a:t>
            </a:r>
            <a:r>
              <a:rPr sz="1500" b="0" dirty="0">
                <a:solidFill>
                  <a:srgbClr val="F8F9FC"/>
                </a:solidFill>
                <a:latin typeface="Arial"/>
              </a:rPr>
              <a:t> </a:t>
            </a:r>
            <a:r>
              <a:rPr sz="1500" b="0" dirty="0" err="1">
                <a:solidFill>
                  <a:srgbClr val="F8F9FC"/>
                </a:solidFill>
                <a:latin typeface="Arial"/>
              </a:rPr>
              <a:t>hiệu</a:t>
            </a:r>
            <a:r>
              <a:rPr sz="1500" b="0" dirty="0">
                <a:solidFill>
                  <a:srgbClr val="F8F9FC"/>
                </a:solidFill>
                <a:latin typeface="Arial"/>
              </a:rPr>
              <a:t> </a:t>
            </a:r>
            <a:r>
              <a:rPr sz="1500" b="0" dirty="0" err="1">
                <a:solidFill>
                  <a:srgbClr val="F8F9FC"/>
                </a:solidFill>
                <a:latin typeface="Arial"/>
              </a:rPr>
              <a:t>suất</a:t>
            </a:r>
            <a:r>
              <a:rPr sz="1500" b="0" dirty="0">
                <a:solidFill>
                  <a:srgbClr val="F8F9FC"/>
                </a:solidFill>
                <a:latin typeface="Arial"/>
              </a:rPr>
              <a:t>.</a:t>
            </a:r>
          </a:p>
        </p:txBody>
      </p:sp>
      <p:sp>
        <p:nvSpPr>
          <p:cNvPr id="12" name="TextBox 11"/>
          <p:cNvSpPr txBox="1"/>
          <p:nvPr/>
        </p:nvSpPr>
        <p:spPr>
          <a:xfrm>
            <a:off x="3397249" y="4413250"/>
            <a:ext cx="5079999" cy="349250"/>
          </a:xfrm>
          <a:prstGeom prst="rect">
            <a:avLst/>
          </a:prstGeom>
          <a:noFill/>
        </p:spPr>
        <p:txBody>
          <a:bodyPr wrap="square" lIns="0" tIns="0" rIns="0" bIns="0" anchor="ctr">
            <a:spAutoFit/>
          </a:bodyPr>
          <a:lstStyle/>
          <a:p>
            <a:pPr algn="l"/>
            <a:r>
              <a:rPr sz="1700" b="1">
                <a:solidFill>
                  <a:srgbClr val="F8F9FC"/>
                </a:solidFill>
                <a:latin typeface="Arial"/>
              </a:rPr>
              <a:t>Nguy cơ phổ biến cơ sở dữ liệu</a:t>
            </a:r>
          </a:p>
        </p:txBody>
      </p:sp>
      <p:sp>
        <p:nvSpPr>
          <p:cNvPr id="13" name="TextBox 12"/>
          <p:cNvSpPr txBox="1"/>
          <p:nvPr/>
        </p:nvSpPr>
        <p:spPr>
          <a:xfrm>
            <a:off x="3555999" y="4699000"/>
            <a:ext cx="5079999" cy="730250"/>
          </a:xfrm>
          <a:prstGeom prst="rect">
            <a:avLst/>
          </a:prstGeom>
          <a:noFill/>
        </p:spPr>
        <p:txBody>
          <a:bodyPr wrap="square" lIns="0" tIns="0" rIns="0" bIns="0" anchor="ctr">
            <a:spAutoFit/>
          </a:bodyPr>
          <a:lstStyle/>
          <a:p>
            <a:pPr algn="l"/>
            <a:r>
              <a:rPr sz="1500" b="0">
                <a:solidFill>
                  <a:srgbClr val="F8F9FC"/>
                </a:solidFill>
                <a:latin typeface="Arial"/>
              </a:rPr>
              <a:t>• Lỗi rò rỉ bộ nhớ (CWE-119) và tài nguyên được quản lý
(CWE-399) luôn nằm trong nhóm nguy hiểm hàng đầu
của MITER.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6.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793749" y="730250"/>
            <a:ext cx="4825999" cy="793750"/>
          </a:xfrm>
          <a:prstGeom prst="rect">
            <a:avLst/>
          </a:prstGeom>
          <a:solidFill>
            <a:srgbClr val="06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111250" y="3216275"/>
            <a:ext cx="3238504" cy="2156460"/>
          </a:xfrm>
          <a:prstGeom prst="rect">
            <a:avLst/>
          </a:prstGeom>
          <a:solidFill>
            <a:srgbClr val="406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394204" y="3216274"/>
            <a:ext cx="3359145" cy="2178685"/>
          </a:xfrm>
          <a:prstGeom prst="rect">
            <a:avLst/>
          </a:prstGeom>
          <a:solidFill>
            <a:srgbClr val="406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880349" y="3238500"/>
            <a:ext cx="3200402" cy="2156460"/>
          </a:xfrm>
          <a:prstGeom prst="rect">
            <a:avLst/>
          </a:prstGeom>
          <a:solidFill>
            <a:srgbClr val="406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52499" y="920750"/>
            <a:ext cx="4444999" cy="412749"/>
          </a:xfrm>
          <a:prstGeom prst="rect">
            <a:avLst/>
          </a:prstGeom>
          <a:noFill/>
        </p:spPr>
        <p:txBody>
          <a:bodyPr wrap="square" lIns="0" tIns="0" rIns="0" bIns="0" anchor="ctr">
            <a:spAutoFit/>
          </a:bodyPr>
          <a:lstStyle/>
          <a:p>
            <a:pPr algn="l"/>
            <a:r>
              <a:rPr sz="2500" b="1">
                <a:solidFill>
                  <a:srgbClr val="F8F9FC"/>
                </a:solidFill>
                <a:latin typeface="Arial"/>
              </a:rPr>
              <a:t>Mục tiêu nghiên cứu chính</a:t>
            </a:r>
          </a:p>
        </p:txBody>
      </p:sp>
      <p:sp>
        <p:nvSpPr>
          <p:cNvPr id="8" name="TextBox 7"/>
          <p:cNvSpPr txBox="1"/>
          <p:nvPr/>
        </p:nvSpPr>
        <p:spPr>
          <a:xfrm>
            <a:off x="1238249" y="3375020"/>
            <a:ext cx="2476499" cy="261610"/>
          </a:xfrm>
          <a:prstGeom prst="rect">
            <a:avLst/>
          </a:prstGeom>
          <a:noFill/>
        </p:spPr>
        <p:txBody>
          <a:bodyPr wrap="square" lIns="0" tIns="0" rIns="0" bIns="0" anchor="ctr">
            <a:spAutoFit/>
          </a:bodyPr>
          <a:lstStyle/>
          <a:p>
            <a:pPr algn="l"/>
            <a:r>
              <a:rPr sz="1700" b="1" dirty="0" err="1">
                <a:solidFill>
                  <a:srgbClr val="F8F9FC"/>
                </a:solidFill>
                <a:latin typeface="Arial"/>
              </a:rPr>
              <a:t>Phân</a:t>
            </a:r>
            <a:r>
              <a:rPr sz="1700" b="1" dirty="0">
                <a:solidFill>
                  <a:srgbClr val="F8F9FC"/>
                </a:solidFill>
                <a:latin typeface="Arial"/>
              </a:rPr>
              <a:t> </a:t>
            </a:r>
            <a:r>
              <a:rPr sz="1700" b="1" dirty="0" err="1">
                <a:solidFill>
                  <a:srgbClr val="F8F9FC"/>
                </a:solidFill>
                <a:latin typeface="Arial"/>
              </a:rPr>
              <a:t>loại</a:t>
            </a:r>
            <a:r>
              <a:rPr sz="1700" b="1" dirty="0">
                <a:solidFill>
                  <a:srgbClr val="F8F9FC"/>
                </a:solidFill>
                <a:latin typeface="Arial"/>
              </a:rPr>
              <a:t> </a:t>
            </a:r>
            <a:r>
              <a:rPr sz="1700" b="1" dirty="0" err="1">
                <a:solidFill>
                  <a:srgbClr val="F8F9FC"/>
                </a:solidFill>
                <a:latin typeface="Arial"/>
              </a:rPr>
              <a:t>đa</a:t>
            </a:r>
            <a:r>
              <a:rPr sz="1700" b="1" dirty="0">
                <a:solidFill>
                  <a:srgbClr val="F8F9FC"/>
                </a:solidFill>
                <a:latin typeface="Arial"/>
              </a:rPr>
              <a:t> </a:t>
            </a:r>
            <a:r>
              <a:rPr sz="1700" b="1" dirty="0" err="1">
                <a:solidFill>
                  <a:srgbClr val="F8F9FC"/>
                </a:solidFill>
                <a:latin typeface="Arial"/>
              </a:rPr>
              <a:t>lớp</a:t>
            </a:r>
            <a:endParaRPr sz="1700" b="1" dirty="0">
              <a:solidFill>
                <a:srgbClr val="F8F9FC"/>
              </a:solidFill>
              <a:latin typeface="Arial"/>
            </a:endParaRPr>
          </a:p>
        </p:txBody>
      </p:sp>
      <p:sp>
        <p:nvSpPr>
          <p:cNvPr id="9" name="TextBox 8"/>
          <p:cNvSpPr txBox="1"/>
          <p:nvPr/>
        </p:nvSpPr>
        <p:spPr>
          <a:xfrm>
            <a:off x="1238249" y="3748523"/>
            <a:ext cx="2867350" cy="692497"/>
          </a:xfrm>
          <a:prstGeom prst="rect">
            <a:avLst/>
          </a:prstGeom>
          <a:noFill/>
        </p:spPr>
        <p:txBody>
          <a:bodyPr wrap="square" lIns="0" tIns="0" rIns="0" bIns="0" anchor="ctr">
            <a:spAutoFit/>
          </a:bodyPr>
          <a:lstStyle/>
          <a:p>
            <a:pPr algn="l"/>
            <a:r>
              <a:rPr sz="1500" b="0" dirty="0" err="1">
                <a:solidFill>
                  <a:srgbClr val="F8F9FC"/>
                </a:solidFill>
                <a:latin typeface="Arial"/>
              </a:rPr>
              <a:t>Không</a:t>
            </a:r>
            <a:r>
              <a:rPr sz="1500" b="0" dirty="0">
                <a:solidFill>
                  <a:srgbClr val="F8F9FC"/>
                </a:solidFill>
                <a:latin typeface="Arial"/>
              </a:rPr>
              <a:t> </a:t>
            </a:r>
            <a:r>
              <a:rPr sz="1500" b="0" dirty="0" err="1">
                <a:solidFill>
                  <a:srgbClr val="F8F9FC"/>
                </a:solidFill>
                <a:latin typeface="Arial"/>
              </a:rPr>
              <a:t>phân</a:t>
            </a:r>
            <a:r>
              <a:rPr sz="1500" b="0" dirty="0">
                <a:solidFill>
                  <a:srgbClr val="F8F9FC"/>
                </a:solidFill>
                <a:latin typeface="Arial"/>
              </a:rPr>
              <a:t> </a:t>
            </a:r>
            <a:r>
              <a:rPr sz="1500" b="0" dirty="0" err="1">
                <a:solidFill>
                  <a:srgbClr val="F8F9FC"/>
                </a:solidFill>
                <a:latin typeface="Arial"/>
              </a:rPr>
              <a:t>biệt</a:t>
            </a:r>
            <a:r>
              <a:rPr sz="1500" b="0" dirty="0">
                <a:solidFill>
                  <a:srgbClr val="F8F9FC"/>
                </a:solidFill>
                <a:latin typeface="Arial"/>
              </a:rPr>
              <a:t> </a:t>
            </a:r>
            <a:r>
              <a:rPr sz="1500" b="0" dirty="0" err="1">
                <a:solidFill>
                  <a:srgbClr val="F8F9FC"/>
                </a:solidFill>
                <a:latin typeface="Arial"/>
              </a:rPr>
              <a:t>lỗi</a:t>
            </a:r>
            <a:r>
              <a:rPr sz="1500" b="0" dirty="0">
                <a:solidFill>
                  <a:srgbClr val="F8F9FC"/>
                </a:solidFill>
                <a:latin typeface="Arial"/>
              </a:rPr>
              <a:t>/</a:t>
            </a:r>
            <a:r>
              <a:rPr sz="1500" b="0" dirty="0" err="1">
                <a:solidFill>
                  <a:srgbClr val="F8F9FC"/>
                </a:solidFill>
                <a:latin typeface="Arial"/>
              </a:rPr>
              <a:t>không</a:t>
            </a:r>
            <a:r>
              <a:rPr sz="1500" b="0" dirty="0">
                <a:solidFill>
                  <a:srgbClr val="F8F9FC"/>
                </a:solidFill>
                <a:latin typeface="Arial"/>
              </a:rPr>
              <a:t> </a:t>
            </a:r>
            <a:r>
              <a:rPr sz="1500" b="0" dirty="0" err="1">
                <a:solidFill>
                  <a:srgbClr val="F8F9FC"/>
                </a:solidFill>
                <a:latin typeface="Arial"/>
              </a:rPr>
              <a:t>lỗi</a:t>
            </a:r>
            <a:r>
              <a:rPr sz="1500" b="0" dirty="0">
                <a:solidFill>
                  <a:srgbClr val="F8F9FC"/>
                </a:solidFill>
                <a:latin typeface="Arial"/>
              </a:rPr>
              <a:t>, </a:t>
            </a:r>
            <a:r>
              <a:rPr sz="1500" b="0" dirty="0" err="1">
                <a:solidFill>
                  <a:srgbClr val="F8F9FC"/>
                </a:solidFill>
                <a:latin typeface="Arial"/>
              </a:rPr>
              <a:t>còn</a:t>
            </a:r>
            <a:r>
              <a:rPr sz="1500" b="0" dirty="0">
                <a:solidFill>
                  <a:srgbClr val="F8F9FC"/>
                </a:solidFill>
                <a:latin typeface="Arial"/>
              </a:rPr>
              <a:t>
</a:t>
            </a:r>
            <a:r>
              <a:rPr sz="1500" b="0" dirty="0" err="1">
                <a:solidFill>
                  <a:srgbClr val="F8F9FC"/>
                </a:solidFill>
                <a:latin typeface="Arial"/>
              </a:rPr>
              <a:t>xác</a:t>
            </a:r>
            <a:r>
              <a:rPr sz="1500" b="0" dirty="0">
                <a:solidFill>
                  <a:srgbClr val="F8F9FC"/>
                </a:solidFill>
                <a:latin typeface="Arial"/>
              </a:rPr>
              <a:t> </a:t>
            </a:r>
            <a:r>
              <a:rPr sz="1500" b="0" dirty="0" err="1">
                <a:solidFill>
                  <a:srgbClr val="F8F9FC"/>
                </a:solidFill>
                <a:latin typeface="Arial"/>
              </a:rPr>
              <a:t>định</a:t>
            </a:r>
            <a:r>
              <a:rPr sz="1500" b="0" dirty="0">
                <a:solidFill>
                  <a:srgbClr val="F8F9FC"/>
                </a:solidFill>
                <a:latin typeface="Arial"/>
              </a:rPr>
              <a:t> </a:t>
            </a:r>
            <a:r>
              <a:rPr sz="1500" b="0" dirty="0" err="1">
                <a:solidFill>
                  <a:srgbClr val="F8F9FC"/>
                </a:solidFill>
                <a:latin typeface="Arial"/>
              </a:rPr>
              <a:t>cụ</a:t>
            </a:r>
            <a:r>
              <a:rPr sz="1500" b="0" dirty="0">
                <a:solidFill>
                  <a:srgbClr val="F8F9FC"/>
                </a:solidFill>
                <a:latin typeface="Arial"/>
              </a:rPr>
              <a:t> </a:t>
            </a:r>
            <a:r>
              <a:rPr sz="1500" b="0" dirty="0" err="1">
                <a:solidFill>
                  <a:srgbClr val="F8F9FC"/>
                </a:solidFill>
                <a:latin typeface="Arial"/>
              </a:rPr>
              <a:t>thể</a:t>
            </a:r>
            <a:r>
              <a:rPr sz="1500" b="0" dirty="0">
                <a:solidFill>
                  <a:srgbClr val="F8F9FC"/>
                </a:solidFill>
                <a:latin typeface="Arial"/>
              </a:rPr>
              <a:t> </a:t>
            </a:r>
            <a:r>
              <a:rPr sz="1500" b="0" dirty="0" err="1">
                <a:solidFill>
                  <a:srgbClr val="F8F9FC"/>
                </a:solidFill>
                <a:latin typeface="Arial"/>
              </a:rPr>
              <a:t>loại</a:t>
            </a:r>
            <a:r>
              <a:rPr sz="1500" b="0" dirty="0">
                <a:solidFill>
                  <a:srgbClr val="F8F9FC"/>
                </a:solidFill>
                <a:latin typeface="Arial"/>
              </a:rPr>
              <a:t> </a:t>
            </a:r>
            <a:r>
              <a:rPr sz="1500" b="0" dirty="0" err="1">
                <a:solidFill>
                  <a:srgbClr val="F8F9FC"/>
                </a:solidFill>
                <a:latin typeface="Arial"/>
              </a:rPr>
              <a:t>lỗi</a:t>
            </a:r>
            <a:r>
              <a:rPr sz="1500" b="0" dirty="0">
                <a:solidFill>
                  <a:srgbClr val="F8F9FC"/>
                </a:solidFill>
                <a:latin typeface="Arial"/>
              </a:rPr>
              <a:t> </a:t>
            </a:r>
            <a:r>
              <a:rPr sz="1500" b="0" dirty="0" err="1">
                <a:solidFill>
                  <a:srgbClr val="F8F9FC"/>
                </a:solidFill>
                <a:latin typeface="Arial"/>
              </a:rPr>
              <a:t>có</a:t>
            </a:r>
            <a:r>
              <a:rPr sz="1500" b="0" dirty="0">
                <a:solidFill>
                  <a:srgbClr val="F8F9FC"/>
                </a:solidFill>
                <a:latin typeface="Arial"/>
              </a:rPr>
              <a:t> </a:t>
            </a:r>
            <a:r>
              <a:rPr sz="1500" b="0" dirty="0" err="1">
                <a:solidFill>
                  <a:srgbClr val="F8F9FC"/>
                </a:solidFill>
                <a:latin typeface="Arial"/>
              </a:rPr>
              <a:t>thể</a:t>
            </a:r>
            <a:r>
              <a:rPr sz="1500" b="0" dirty="0">
                <a:solidFill>
                  <a:srgbClr val="F8F9FC"/>
                </a:solidFill>
                <a:latin typeface="Arial"/>
              </a:rPr>
              <a:t> </a:t>
            </a:r>
            <a:r>
              <a:rPr sz="1500" b="0" dirty="0" err="1">
                <a:solidFill>
                  <a:srgbClr val="F8F9FC"/>
                </a:solidFill>
                <a:latin typeface="Arial"/>
              </a:rPr>
              <a:t>như</a:t>
            </a:r>
            <a:r>
              <a:rPr sz="1500" b="0" dirty="0">
                <a:solidFill>
                  <a:srgbClr val="F8F9FC"/>
                </a:solidFill>
                <a:latin typeface="Arial"/>
              </a:rPr>
              <a:t>
</a:t>
            </a:r>
            <a:r>
              <a:rPr sz="1500" b="0" dirty="0" err="1">
                <a:solidFill>
                  <a:srgbClr val="F8F9FC"/>
                </a:solidFill>
                <a:latin typeface="Arial"/>
              </a:rPr>
              <a:t>tràn</a:t>
            </a:r>
            <a:r>
              <a:rPr sz="1500" b="0" dirty="0">
                <a:solidFill>
                  <a:srgbClr val="F8F9FC"/>
                </a:solidFill>
                <a:latin typeface="Arial"/>
              </a:rPr>
              <a:t> </a:t>
            </a:r>
            <a:r>
              <a:rPr sz="1500" b="0" dirty="0" err="1">
                <a:solidFill>
                  <a:srgbClr val="F8F9FC"/>
                </a:solidFill>
                <a:latin typeface="Arial"/>
              </a:rPr>
              <a:t>bộ</a:t>
            </a:r>
            <a:r>
              <a:rPr sz="1500" b="0" dirty="0">
                <a:solidFill>
                  <a:srgbClr val="F8F9FC"/>
                </a:solidFill>
                <a:latin typeface="Arial"/>
              </a:rPr>
              <a:t> </a:t>
            </a:r>
            <a:r>
              <a:rPr sz="1500" b="0" dirty="0" err="1">
                <a:solidFill>
                  <a:srgbClr val="F8F9FC"/>
                </a:solidFill>
                <a:latin typeface="Arial"/>
              </a:rPr>
              <a:t>đệm</a:t>
            </a:r>
            <a:r>
              <a:rPr sz="1500" b="0" dirty="0">
                <a:solidFill>
                  <a:srgbClr val="F8F9FC"/>
                </a:solidFill>
                <a:latin typeface="Arial"/>
              </a:rPr>
              <a:t>, </a:t>
            </a:r>
            <a:r>
              <a:rPr sz="1500" b="0" dirty="0" err="1">
                <a:solidFill>
                  <a:srgbClr val="F8F9FC"/>
                </a:solidFill>
                <a:latin typeface="Arial"/>
              </a:rPr>
              <a:t>rò</a:t>
            </a:r>
            <a:r>
              <a:rPr sz="1500" b="0" dirty="0">
                <a:solidFill>
                  <a:srgbClr val="F8F9FC"/>
                </a:solidFill>
                <a:latin typeface="Arial"/>
              </a:rPr>
              <a:t> </a:t>
            </a:r>
            <a:r>
              <a:rPr sz="1500" b="0" dirty="0" err="1">
                <a:solidFill>
                  <a:srgbClr val="F8F9FC"/>
                </a:solidFill>
                <a:latin typeface="Arial"/>
              </a:rPr>
              <a:t>rỉ</a:t>
            </a:r>
            <a:r>
              <a:rPr sz="1500" b="0" dirty="0">
                <a:solidFill>
                  <a:srgbClr val="F8F9FC"/>
                </a:solidFill>
                <a:latin typeface="Arial"/>
              </a:rPr>
              <a:t> </a:t>
            </a:r>
            <a:r>
              <a:rPr sz="1500" b="0" dirty="0" err="1">
                <a:solidFill>
                  <a:srgbClr val="F8F9FC"/>
                </a:solidFill>
                <a:latin typeface="Arial"/>
              </a:rPr>
              <a:t>tài</a:t>
            </a:r>
            <a:r>
              <a:rPr sz="1500" b="0" dirty="0">
                <a:solidFill>
                  <a:srgbClr val="F8F9FC"/>
                </a:solidFill>
                <a:latin typeface="Arial"/>
              </a:rPr>
              <a:t> </a:t>
            </a:r>
            <a:r>
              <a:rPr sz="1500" b="0" dirty="0" err="1">
                <a:solidFill>
                  <a:srgbClr val="F8F9FC"/>
                </a:solidFill>
                <a:latin typeface="Arial"/>
              </a:rPr>
              <a:t>nguyên</a:t>
            </a:r>
            <a:r>
              <a:rPr sz="1500" b="0" dirty="0">
                <a:solidFill>
                  <a:srgbClr val="F8F9FC"/>
                </a:solidFill>
                <a:latin typeface="Arial"/>
              </a:rPr>
              <a:t>.</a:t>
            </a:r>
          </a:p>
        </p:txBody>
      </p:sp>
      <p:sp>
        <p:nvSpPr>
          <p:cNvPr id="10" name="TextBox 9"/>
          <p:cNvSpPr txBox="1"/>
          <p:nvPr/>
        </p:nvSpPr>
        <p:spPr>
          <a:xfrm>
            <a:off x="4555488" y="3356108"/>
            <a:ext cx="2476499" cy="261610"/>
          </a:xfrm>
          <a:prstGeom prst="rect">
            <a:avLst/>
          </a:prstGeom>
          <a:noFill/>
        </p:spPr>
        <p:txBody>
          <a:bodyPr wrap="square" lIns="0" tIns="0" rIns="0" bIns="0" anchor="ctr">
            <a:spAutoFit/>
          </a:bodyPr>
          <a:lstStyle/>
          <a:p>
            <a:pPr algn="l"/>
            <a:r>
              <a:rPr sz="1700" b="1" dirty="0" err="1">
                <a:solidFill>
                  <a:srgbClr val="F8F9FC"/>
                </a:solidFill>
                <a:latin typeface="Arial"/>
              </a:rPr>
              <a:t>Kiến</a:t>
            </a:r>
            <a:r>
              <a:rPr sz="1700" b="1" dirty="0">
                <a:solidFill>
                  <a:srgbClr val="F8F9FC"/>
                </a:solidFill>
                <a:latin typeface="Arial"/>
              </a:rPr>
              <a:t> </a:t>
            </a:r>
            <a:r>
              <a:rPr sz="1700" b="1" dirty="0" err="1">
                <a:solidFill>
                  <a:srgbClr val="F8F9FC"/>
                </a:solidFill>
                <a:latin typeface="Arial"/>
              </a:rPr>
              <a:t>trúc</a:t>
            </a:r>
            <a:r>
              <a:rPr sz="1700" b="1" dirty="0">
                <a:solidFill>
                  <a:srgbClr val="F8F9FC"/>
                </a:solidFill>
                <a:latin typeface="Arial"/>
              </a:rPr>
              <a:t> lai</a:t>
            </a:r>
          </a:p>
        </p:txBody>
      </p:sp>
      <p:sp>
        <p:nvSpPr>
          <p:cNvPr id="11" name="TextBox 10"/>
          <p:cNvSpPr txBox="1"/>
          <p:nvPr/>
        </p:nvSpPr>
        <p:spPr>
          <a:xfrm>
            <a:off x="4682807" y="3636630"/>
            <a:ext cx="2781937" cy="995978"/>
          </a:xfrm>
          <a:prstGeom prst="rect">
            <a:avLst/>
          </a:prstGeom>
          <a:noFill/>
        </p:spPr>
        <p:txBody>
          <a:bodyPr wrap="square" lIns="0" tIns="0" rIns="0" bIns="0" anchor="ctr">
            <a:spAutoFit/>
          </a:bodyPr>
          <a:lstStyle/>
          <a:p>
            <a:pPr algn="l">
              <a:lnSpc>
                <a:spcPct val="150000"/>
              </a:lnSpc>
            </a:pPr>
            <a:r>
              <a:rPr sz="1500" b="0" dirty="0" err="1">
                <a:solidFill>
                  <a:srgbClr val="F8F9FC"/>
                </a:solidFill>
                <a:latin typeface="Arial"/>
              </a:rPr>
              <a:t>CodeBERT</a:t>
            </a:r>
            <a:r>
              <a:rPr sz="1500" b="0" dirty="0">
                <a:solidFill>
                  <a:srgbClr val="F8F9FC"/>
                </a:solidFill>
                <a:latin typeface="Arial"/>
              </a:rPr>
              <a:t> </a:t>
            </a:r>
            <a:r>
              <a:rPr sz="1500" b="0" dirty="0" err="1">
                <a:solidFill>
                  <a:srgbClr val="F8F9FC"/>
                </a:solidFill>
                <a:latin typeface="Arial"/>
              </a:rPr>
              <a:t>hợp</a:t>
            </a:r>
            <a:r>
              <a:rPr sz="1500" b="0" dirty="0">
                <a:solidFill>
                  <a:srgbClr val="F8F9FC"/>
                </a:solidFill>
                <a:latin typeface="Arial"/>
              </a:rPr>
              <a:t> </a:t>
            </a:r>
            <a:r>
              <a:rPr sz="1500" b="0" dirty="0" err="1">
                <a:solidFill>
                  <a:srgbClr val="F8F9FC"/>
                </a:solidFill>
                <a:latin typeface="Arial"/>
              </a:rPr>
              <a:t>nhất</a:t>
            </a:r>
            <a:r>
              <a:rPr sz="1500" b="0" dirty="0">
                <a:solidFill>
                  <a:srgbClr val="F8F9FC"/>
                </a:solidFill>
                <a:latin typeface="Arial"/>
              </a:rPr>
              <a:t> (</a:t>
            </a:r>
            <a:r>
              <a:rPr sz="1500" b="0" dirty="0" err="1">
                <a:solidFill>
                  <a:srgbClr val="F8F9FC"/>
                </a:solidFill>
                <a:latin typeface="Arial"/>
              </a:rPr>
              <a:t>ngữ</a:t>
            </a:r>
            <a:r>
              <a:rPr sz="1500" b="0" dirty="0">
                <a:solidFill>
                  <a:srgbClr val="F8F9FC"/>
                </a:solidFill>
                <a:latin typeface="Arial"/>
              </a:rPr>
              <a:t> </a:t>
            </a:r>
            <a:r>
              <a:rPr sz="1500" b="0" dirty="0" err="1">
                <a:solidFill>
                  <a:srgbClr val="F8F9FC"/>
                </a:solidFill>
                <a:latin typeface="Arial"/>
              </a:rPr>
              <a:t>nghĩa</a:t>
            </a:r>
            <a:r>
              <a:rPr sz="1500" b="0" dirty="0">
                <a:solidFill>
                  <a:srgbClr val="F8F9FC"/>
                </a:solidFill>
                <a:latin typeface="Arial"/>
              </a:rPr>
              <a:t>
</a:t>
            </a:r>
            <a:r>
              <a:rPr sz="1500" b="0" dirty="0" err="1">
                <a:solidFill>
                  <a:srgbClr val="F8F9FC"/>
                </a:solidFill>
                <a:latin typeface="Arial"/>
              </a:rPr>
              <a:t>toàn</a:t>
            </a:r>
            <a:r>
              <a:rPr sz="1500" b="0" dirty="0">
                <a:solidFill>
                  <a:srgbClr val="F8F9FC"/>
                </a:solidFill>
                <a:latin typeface="Arial"/>
              </a:rPr>
              <a:t> </a:t>
            </a:r>
            <a:r>
              <a:rPr sz="1500" b="0" dirty="0" err="1">
                <a:solidFill>
                  <a:srgbClr val="F8F9FC"/>
                </a:solidFill>
                <a:latin typeface="Arial"/>
              </a:rPr>
              <a:t>cục</a:t>
            </a:r>
            <a:r>
              <a:rPr sz="1500" b="0" dirty="0">
                <a:solidFill>
                  <a:srgbClr val="F8F9FC"/>
                </a:solidFill>
                <a:latin typeface="Arial"/>
              </a:rPr>
              <a:t>) </a:t>
            </a:r>
            <a:r>
              <a:rPr sz="1500" b="0" dirty="0" err="1">
                <a:solidFill>
                  <a:srgbClr val="F8F9FC"/>
                </a:solidFill>
                <a:latin typeface="Arial"/>
              </a:rPr>
              <a:t>với</a:t>
            </a:r>
            <a:r>
              <a:rPr sz="1500" b="0" dirty="0">
                <a:solidFill>
                  <a:srgbClr val="F8F9FC"/>
                </a:solidFill>
                <a:latin typeface="Arial"/>
              </a:rPr>
              <a:t> 1D-CNN (</a:t>
            </a:r>
            <a:r>
              <a:rPr sz="1500" b="0" dirty="0" err="1">
                <a:solidFill>
                  <a:srgbClr val="F8F9FC"/>
                </a:solidFill>
                <a:latin typeface="Arial"/>
              </a:rPr>
              <a:t>bộ</a:t>
            </a:r>
            <a:r>
              <a:rPr sz="1500" b="0" dirty="0">
                <a:solidFill>
                  <a:srgbClr val="F8F9FC"/>
                </a:solidFill>
                <a:latin typeface="Arial"/>
              </a:rPr>
              <a:t> </a:t>
            </a:r>
            <a:r>
              <a:rPr sz="1500" b="0" dirty="0" err="1">
                <a:solidFill>
                  <a:srgbClr val="F8F9FC"/>
                </a:solidFill>
                <a:latin typeface="Arial"/>
              </a:rPr>
              <a:t>đặc</a:t>
            </a:r>
            <a:r>
              <a:rPr sz="1500" b="0" dirty="0">
                <a:solidFill>
                  <a:srgbClr val="F8F9FC"/>
                </a:solidFill>
                <a:latin typeface="Arial"/>
              </a:rPr>
              <a:t>
</a:t>
            </a:r>
            <a:r>
              <a:rPr sz="1500" b="0" dirty="0" err="1">
                <a:solidFill>
                  <a:srgbClr val="F8F9FC"/>
                </a:solidFill>
                <a:latin typeface="Arial"/>
              </a:rPr>
              <a:t>trưng</a:t>
            </a:r>
            <a:r>
              <a:rPr sz="1500" b="0" dirty="0">
                <a:solidFill>
                  <a:srgbClr val="F8F9FC"/>
                </a:solidFill>
                <a:latin typeface="Arial"/>
              </a:rPr>
              <a:t>) </a:t>
            </a:r>
            <a:r>
              <a:rPr sz="1500" b="0" dirty="0" err="1">
                <a:solidFill>
                  <a:srgbClr val="F8F9FC"/>
                </a:solidFill>
                <a:latin typeface="Arial"/>
              </a:rPr>
              <a:t>cho</a:t>
            </a:r>
            <a:r>
              <a:rPr sz="1500" b="0" dirty="0">
                <a:solidFill>
                  <a:srgbClr val="F8F9FC"/>
                </a:solidFill>
                <a:latin typeface="Arial"/>
              </a:rPr>
              <a:t> </a:t>
            </a:r>
            <a:r>
              <a:rPr sz="1500" b="0" dirty="0" err="1">
                <a:solidFill>
                  <a:srgbClr val="F8F9FC"/>
                </a:solidFill>
                <a:latin typeface="Arial"/>
              </a:rPr>
              <a:t>mã</a:t>
            </a:r>
            <a:r>
              <a:rPr sz="1500" b="0" dirty="0">
                <a:solidFill>
                  <a:srgbClr val="F8F9FC"/>
                </a:solidFill>
                <a:latin typeface="Arial"/>
              </a:rPr>
              <a:t> C/C++.</a:t>
            </a:r>
          </a:p>
        </p:txBody>
      </p:sp>
      <p:sp>
        <p:nvSpPr>
          <p:cNvPr id="12" name="TextBox 11"/>
          <p:cNvSpPr txBox="1"/>
          <p:nvPr/>
        </p:nvSpPr>
        <p:spPr>
          <a:xfrm>
            <a:off x="8020047" y="3384699"/>
            <a:ext cx="2539999" cy="261610"/>
          </a:xfrm>
          <a:prstGeom prst="rect">
            <a:avLst/>
          </a:prstGeom>
          <a:noFill/>
        </p:spPr>
        <p:txBody>
          <a:bodyPr wrap="square" lIns="0" tIns="0" rIns="0" bIns="0" anchor="ctr">
            <a:spAutoFit/>
          </a:bodyPr>
          <a:lstStyle/>
          <a:p>
            <a:pPr algn="l"/>
            <a:r>
              <a:rPr sz="1700" b="1" dirty="0" err="1">
                <a:solidFill>
                  <a:srgbClr val="F8F9FC"/>
                </a:solidFill>
                <a:latin typeface="Arial"/>
              </a:rPr>
              <a:t>Hệ</a:t>
            </a:r>
            <a:r>
              <a:rPr sz="1700" b="1" dirty="0">
                <a:solidFill>
                  <a:srgbClr val="F8F9FC"/>
                </a:solidFill>
                <a:latin typeface="Arial"/>
              </a:rPr>
              <a:t> </a:t>
            </a:r>
            <a:r>
              <a:rPr sz="1700" b="1" dirty="0" err="1">
                <a:solidFill>
                  <a:srgbClr val="F8F9FC"/>
                </a:solidFill>
                <a:latin typeface="Arial"/>
              </a:rPr>
              <a:t>thống</a:t>
            </a:r>
            <a:r>
              <a:rPr sz="1700" b="1" dirty="0">
                <a:solidFill>
                  <a:srgbClr val="F8F9FC"/>
                </a:solidFill>
                <a:latin typeface="Arial"/>
              </a:rPr>
              <a:t> End-to-End</a:t>
            </a:r>
          </a:p>
        </p:txBody>
      </p:sp>
      <p:sp>
        <p:nvSpPr>
          <p:cNvPr id="13" name="TextBox 12"/>
          <p:cNvSpPr txBox="1"/>
          <p:nvPr/>
        </p:nvSpPr>
        <p:spPr>
          <a:xfrm>
            <a:off x="8108949" y="3619582"/>
            <a:ext cx="2844802" cy="995978"/>
          </a:xfrm>
          <a:prstGeom prst="rect">
            <a:avLst/>
          </a:prstGeom>
          <a:noFill/>
        </p:spPr>
        <p:txBody>
          <a:bodyPr wrap="square" lIns="0" tIns="0" rIns="0" bIns="0" anchor="ctr">
            <a:spAutoFit/>
          </a:bodyPr>
          <a:lstStyle/>
          <a:p>
            <a:pPr algn="l">
              <a:lnSpc>
                <a:spcPct val="150000"/>
              </a:lnSpc>
            </a:pPr>
            <a:r>
              <a:rPr sz="1500" b="0" dirty="0" err="1">
                <a:solidFill>
                  <a:srgbClr val="F8F9FC"/>
                </a:solidFill>
                <a:latin typeface="Arial"/>
              </a:rPr>
              <a:t>Xây</a:t>
            </a:r>
            <a:r>
              <a:rPr sz="1500" b="0" dirty="0">
                <a:solidFill>
                  <a:srgbClr val="F8F9FC"/>
                </a:solidFill>
                <a:latin typeface="Arial"/>
              </a:rPr>
              <a:t> </a:t>
            </a:r>
            <a:r>
              <a:rPr sz="1500" b="0" dirty="0" err="1">
                <a:solidFill>
                  <a:srgbClr val="F8F9FC"/>
                </a:solidFill>
                <a:latin typeface="Arial"/>
              </a:rPr>
              <a:t>dựng</a:t>
            </a:r>
            <a:r>
              <a:rPr sz="1500" b="0" dirty="0">
                <a:solidFill>
                  <a:srgbClr val="F8F9FC"/>
                </a:solidFill>
                <a:latin typeface="Arial"/>
              </a:rPr>
              <a:t> </a:t>
            </a:r>
            <a:r>
              <a:rPr sz="1500" b="0" dirty="0" err="1">
                <a:solidFill>
                  <a:srgbClr val="F8F9FC"/>
                </a:solidFill>
                <a:latin typeface="Arial"/>
              </a:rPr>
              <a:t>mô</a:t>
            </a:r>
            <a:r>
              <a:rPr sz="1500" b="0" dirty="0">
                <a:solidFill>
                  <a:srgbClr val="F8F9FC"/>
                </a:solidFill>
                <a:latin typeface="Arial"/>
              </a:rPr>
              <a:t> </a:t>
            </a:r>
            <a:r>
              <a:rPr sz="1500" b="0" dirty="0" err="1">
                <a:solidFill>
                  <a:srgbClr val="F8F9FC"/>
                </a:solidFill>
                <a:latin typeface="Arial"/>
              </a:rPr>
              <a:t>hình</a:t>
            </a:r>
            <a:r>
              <a:rPr sz="1500" b="0" dirty="0">
                <a:solidFill>
                  <a:srgbClr val="F8F9FC"/>
                </a:solidFill>
                <a:latin typeface="Arial"/>
              </a:rPr>
              <a:t> </a:t>
            </a:r>
            <a:r>
              <a:rPr sz="1500" b="0" dirty="0" err="1">
                <a:solidFill>
                  <a:srgbClr val="F8F9FC"/>
                </a:solidFill>
                <a:latin typeface="Arial"/>
              </a:rPr>
              <a:t>hoàn</a:t>
            </a:r>
            <a:r>
              <a:rPr sz="1500" b="0" dirty="0">
                <a:solidFill>
                  <a:srgbClr val="F8F9FC"/>
                </a:solidFill>
                <a:latin typeface="Arial"/>
              </a:rPr>
              <a:t> </a:t>
            </a:r>
            <a:r>
              <a:rPr sz="1500" b="0" dirty="0" err="1">
                <a:solidFill>
                  <a:srgbClr val="F8F9FC"/>
                </a:solidFill>
                <a:latin typeface="Arial"/>
              </a:rPr>
              <a:t>chỉnh</a:t>
            </a:r>
            <a:r>
              <a:rPr sz="1500" b="0" dirty="0">
                <a:solidFill>
                  <a:srgbClr val="F8F9FC"/>
                </a:solidFill>
                <a:latin typeface="Arial"/>
              </a:rPr>
              <a:t>, </a:t>
            </a:r>
            <a:r>
              <a:rPr sz="1500" b="0" dirty="0" err="1">
                <a:solidFill>
                  <a:srgbClr val="F8F9FC"/>
                </a:solidFill>
                <a:latin typeface="Arial"/>
              </a:rPr>
              <a:t>tích</a:t>
            </a:r>
            <a:r>
              <a:rPr lang="en-US" sz="1500" dirty="0">
                <a:solidFill>
                  <a:srgbClr val="F8F9FC"/>
                </a:solidFill>
                <a:latin typeface="Arial"/>
              </a:rPr>
              <a:t> </a:t>
            </a:r>
            <a:r>
              <a:rPr sz="1500" b="0" dirty="0" err="1">
                <a:solidFill>
                  <a:srgbClr val="F8F9FC"/>
                </a:solidFill>
                <a:latin typeface="Arial"/>
              </a:rPr>
              <a:t>hợp</a:t>
            </a:r>
            <a:r>
              <a:rPr sz="1500" b="0" dirty="0">
                <a:solidFill>
                  <a:srgbClr val="F8F9FC"/>
                </a:solidFill>
                <a:latin typeface="Arial"/>
              </a:rPr>
              <a:t> backend </a:t>
            </a:r>
            <a:r>
              <a:rPr sz="1500" b="0" dirty="0" err="1">
                <a:solidFill>
                  <a:srgbClr val="F8F9FC"/>
                </a:solidFill>
                <a:latin typeface="Arial"/>
              </a:rPr>
              <a:t>và</a:t>
            </a:r>
            <a:r>
              <a:rPr sz="1500" b="0" dirty="0">
                <a:solidFill>
                  <a:srgbClr val="F8F9FC"/>
                </a:solidFill>
                <a:latin typeface="Arial"/>
              </a:rPr>
              <a:t> frontend </a:t>
            </a:r>
            <a:r>
              <a:rPr sz="1500" b="0" dirty="0" err="1">
                <a:solidFill>
                  <a:srgbClr val="F8F9FC"/>
                </a:solidFill>
                <a:latin typeface="Arial"/>
              </a:rPr>
              <a:t>để</a:t>
            </a:r>
            <a:r>
              <a:rPr sz="1500" b="0" dirty="0">
                <a:solidFill>
                  <a:srgbClr val="F8F9FC"/>
                </a:solidFill>
                <a:latin typeface="Arial"/>
              </a:rPr>
              <a:t> </a:t>
            </a:r>
            <a:r>
              <a:rPr sz="1500" b="0" dirty="0" err="1">
                <a:solidFill>
                  <a:srgbClr val="F8F9FC"/>
                </a:solidFill>
                <a:latin typeface="Arial"/>
              </a:rPr>
              <a:t>tựđộng</a:t>
            </a:r>
            <a:r>
              <a:rPr sz="1500" b="0" dirty="0">
                <a:solidFill>
                  <a:srgbClr val="F8F9FC"/>
                </a:solidFill>
                <a:latin typeface="Arial"/>
              </a:rPr>
              <a:t> </a:t>
            </a:r>
            <a:r>
              <a:rPr sz="1500" b="0" dirty="0" err="1">
                <a:solidFill>
                  <a:srgbClr val="F8F9FC"/>
                </a:solidFill>
                <a:latin typeface="Arial"/>
              </a:rPr>
              <a:t>phát</a:t>
            </a:r>
            <a:r>
              <a:rPr sz="1500" b="0" dirty="0">
                <a:solidFill>
                  <a:srgbClr val="F8F9FC"/>
                </a:solidFill>
                <a:latin typeface="Arial"/>
              </a:rPr>
              <a:t> </a:t>
            </a:r>
            <a:r>
              <a:rPr sz="1500" b="0" dirty="0" err="1">
                <a:solidFill>
                  <a:srgbClr val="F8F9FC"/>
                </a:solidFill>
                <a:latin typeface="Arial"/>
              </a:rPr>
              <a:t>hiện</a:t>
            </a:r>
            <a:r>
              <a:rPr sz="1500" b="0" dirty="0">
                <a:solidFill>
                  <a:srgbClr val="F8F9FC"/>
                </a:solidFill>
                <a:latin typeface="Arial"/>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7.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825499" y="666750"/>
            <a:ext cx="6984999" cy="857250"/>
          </a:xfrm>
          <a:prstGeom prst="rect">
            <a:avLst/>
          </a:prstGeom>
          <a:solidFill>
            <a:srgbClr val="06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317750" y="1828800"/>
            <a:ext cx="4825999" cy="1460500"/>
          </a:xfrm>
          <a:prstGeom prst="rect">
            <a:avLst/>
          </a:prstGeom>
          <a:solidFill>
            <a:srgbClr val="06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158999" y="3778250"/>
            <a:ext cx="4825999" cy="1397000"/>
          </a:xfrm>
          <a:prstGeom prst="rect">
            <a:avLst/>
          </a:prstGeom>
          <a:solidFill>
            <a:srgbClr val="06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556499" y="1873250"/>
            <a:ext cx="3746499" cy="1587500"/>
          </a:xfrm>
          <a:prstGeom prst="rect">
            <a:avLst/>
          </a:prstGeom>
          <a:solidFill>
            <a:srgbClr val="06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47749" y="920750"/>
            <a:ext cx="6667499" cy="412749"/>
          </a:xfrm>
          <a:prstGeom prst="rect">
            <a:avLst/>
          </a:prstGeom>
          <a:noFill/>
        </p:spPr>
        <p:txBody>
          <a:bodyPr wrap="square" lIns="0" tIns="0" rIns="0" bIns="0" anchor="ctr">
            <a:spAutoFit/>
          </a:bodyPr>
          <a:lstStyle/>
          <a:p>
            <a:pPr algn="l"/>
            <a:r>
              <a:rPr sz="2500" b="1">
                <a:solidFill>
                  <a:srgbClr val="F8F9FC"/>
                </a:solidFill>
                <a:latin typeface="Arial"/>
              </a:rPr>
              <a:t>Nghiên cứu dữ liệu và đối tượng</a:t>
            </a:r>
          </a:p>
        </p:txBody>
      </p:sp>
      <p:sp>
        <p:nvSpPr>
          <p:cNvPr id="8" name="TextBox 7"/>
          <p:cNvSpPr txBox="1"/>
          <p:nvPr/>
        </p:nvSpPr>
        <p:spPr>
          <a:xfrm>
            <a:off x="2508250" y="2051050"/>
            <a:ext cx="3174999" cy="349250"/>
          </a:xfrm>
          <a:prstGeom prst="rect">
            <a:avLst/>
          </a:prstGeom>
          <a:noFill/>
        </p:spPr>
        <p:txBody>
          <a:bodyPr wrap="square" lIns="0" tIns="0" rIns="0" bIns="0" anchor="ctr">
            <a:spAutoFit/>
          </a:bodyPr>
          <a:lstStyle/>
          <a:p>
            <a:pPr algn="l"/>
            <a:r>
              <a:rPr sz="1700" b="1">
                <a:solidFill>
                  <a:srgbClr val="F8F9FC"/>
                </a:solidFill>
                <a:latin typeface="Arial"/>
              </a:rPr>
              <a:t>Bộ dữ liệu</a:t>
            </a:r>
          </a:p>
        </p:txBody>
      </p:sp>
      <p:sp>
        <p:nvSpPr>
          <p:cNvPr id="9" name="TextBox 8"/>
          <p:cNvSpPr txBox="1"/>
          <p:nvPr/>
        </p:nvSpPr>
        <p:spPr>
          <a:xfrm>
            <a:off x="2635250" y="2336800"/>
            <a:ext cx="4571999" cy="793750"/>
          </a:xfrm>
          <a:prstGeom prst="rect">
            <a:avLst/>
          </a:prstGeom>
          <a:noFill/>
        </p:spPr>
        <p:txBody>
          <a:bodyPr wrap="square" lIns="0" tIns="0" rIns="0" bIns="0" anchor="ctr">
            <a:spAutoFit/>
          </a:bodyPr>
          <a:lstStyle/>
          <a:p>
            <a:pPr algn="l"/>
            <a:r>
              <a:rPr sz="1500" b="0" dirty="0">
                <a:solidFill>
                  <a:srgbClr val="F8F9FC"/>
                </a:solidFill>
                <a:latin typeface="Arial"/>
              </a:rPr>
              <a:t>• 9.000 </a:t>
            </a:r>
            <a:r>
              <a:rPr sz="1500" b="0" dirty="0" err="1">
                <a:solidFill>
                  <a:srgbClr val="F8F9FC"/>
                </a:solidFill>
                <a:latin typeface="Arial"/>
              </a:rPr>
              <a:t>mẫu</a:t>
            </a:r>
            <a:r>
              <a:rPr sz="1500" b="0" dirty="0">
                <a:solidFill>
                  <a:srgbClr val="F8F9FC"/>
                </a:solidFill>
                <a:latin typeface="Arial"/>
              </a:rPr>
              <a:t> </a:t>
            </a:r>
            <a:r>
              <a:rPr sz="1500" b="0" dirty="0" err="1">
                <a:solidFill>
                  <a:srgbClr val="F8F9FC"/>
                </a:solidFill>
                <a:latin typeface="Arial"/>
              </a:rPr>
              <a:t>mã</a:t>
            </a:r>
            <a:r>
              <a:rPr sz="1500" b="0" dirty="0">
                <a:solidFill>
                  <a:srgbClr val="F8F9FC"/>
                </a:solidFill>
                <a:latin typeface="Arial"/>
              </a:rPr>
              <a:t> </a:t>
            </a:r>
            <a:r>
              <a:rPr sz="1500" b="0" dirty="0" err="1">
                <a:solidFill>
                  <a:srgbClr val="F8F9FC"/>
                </a:solidFill>
                <a:latin typeface="Arial"/>
              </a:rPr>
              <a:t>nguồn</a:t>
            </a:r>
            <a:r>
              <a:rPr sz="1500" b="0" dirty="0">
                <a:solidFill>
                  <a:srgbClr val="F8F9FC"/>
                </a:solidFill>
                <a:latin typeface="Arial"/>
              </a:rPr>
              <a:t> C/C++ </a:t>
            </a:r>
            <a:r>
              <a:rPr sz="1500" b="0" dirty="0" err="1">
                <a:solidFill>
                  <a:srgbClr val="F8F9FC"/>
                </a:solidFill>
                <a:latin typeface="Arial"/>
              </a:rPr>
              <a:t>phân</a:t>
            </a:r>
            <a:r>
              <a:rPr sz="1500" b="0" dirty="0">
                <a:solidFill>
                  <a:srgbClr val="F8F9FC"/>
                </a:solidFill>
                <a:latin typeface="Arial"/>
              </a:rPr>
              <a:t> </a:t>
            </a:r>
            <a:r>
              <a:rPr sz="1500" b="0" dirty="0" err="1">
                <a:solidFill>
                  <a:srgbClr val="F8F9FC"/>
                </a:solidFill>
                <a:latin typeface="Arial"/>
              </a:rPr>
              <a:t>công</a:t>
            </a:r>
            <a:r>
              <a:rPr sz="1500" b="0" dirty="0">
                <a:solidFill>
                  <a:srgbClr val="F8F9FC"/>
                </a:solidFill>
                <a:latin typeface="Arial"/>
              </a:rPr>
              <a:t> </a:t>
            </a:r>
            <a:r>
              <a:rPr sz="1500" b="0" dirty="0" err="1">
                <a:solidFill>
                  <a:srgbClr val="F8F9FC"/>
                </a:solidFill>
                <a:latin typeface="Arial"/>
              </a:rPr>
              <a:t>nhãn</a:t>
            </a:r>
            <a:r>
              <a:rPr sz="1500" b="0" dirty="0">
                <a:solidFill>
                  <a:srgbClr val="F8F9FC"/>
                </a:solidFill>
                <a:latin typeface="Arial"/>
              </a:rPr>
              <a:t>
</a:t>
            </a:r>
            <a:r>
              <a:rPr sz="1500" b="0" dirty="0" err="1">
                <a:solidFill>
                  <a:srgbClr val="F8F9FC"/>
                </a:solidFill>
                <a:latin typeface="Arial"/>
              </a:rPr>
              <a:t>thủ</a:t>
            </a:r>
            <a:r>
              <a:rPr sz="1500" b="0" dirty="0">
                <a:solidFill>
                  <a:srgbClr val="F8F9FC"/>
                </a:solidFill>
                <a:latin typeface="Arial"/>
              </a:rPr>
              <a:t> </a:t>
            </a:r>
            <a:r>
              <a:rPr sz="1500" b="0" dirty="0" err="1">
                <a:solidFill>
                  <a:srgbClr val="F8F9FC"/>
                </a:solidFill>
                <a:latin typeface="Arial"/>
              </a:rPr>
              <a:t>công</a:t>
            </a:r>
            <a:r>
              <a:rPr sz="1500" b="0" dirty="0">
                <a:solidFill>
                  <a:srgbClr val="F8F9FC"/>
                </a:solidFill>
                <a:latin typeface="Arial"/>
              </a:rPr>
              <a:t>, </a:t>
            </a:r>
            <a:r>
              <a:rPr sz="1500" b="0" dirty="0" err="1">
                <a:solidFill>
                  <a:srgbClr val="F8F9FC"/>
                </a:solidFill>
                <a:latin typeface="Arial"/>
              </a:rPr>
              <a:t>cân</a:t>
            </a:r>
            <a:r>
              <a:rPr sz="1500" b="0" dirty="0">
                <a:solidFill>
                  <a:srgbClr val="F8F9FC"/>
                </a:solidFill>
                <a:latin typeface="Arial"/>
              </a:rPr>
              <a:t> </a:t>
            </a:r>
            <a:r>
              <a:rPr sz="1500" b="0" dirty="0" err="1">
                <a:solidFill>
                  <a:srgbClr val="F8F9FC"/>
                </a:solidFill>
                <a:latin typeface="Arial"/>
              </a:rPr>
              <a:t>bằng</a:t>
            </a:r>
            <a:r>
              <a:rPr sz="1500" b="0" dirty="0">
                <a:solidFill>
                  <a:srgbClr val="F8F9FC"/>
                </a:solidFill>
                <a:latin typeface="Arial"/>
              </a:rPr>
              <a:t> 3 </a:t>
            </a:r>
            <a:r>
              <a:rPr sz="1500" b="0" dirty="0" err="1">
                <a:solidFill>
                  <a:srgbClr val="F8F9FC"/>
                </a:solidFill>
                <a:latin typeface="Arial"/>
              </a:rPr>
              <a:t>lớp</a:t>
            </a:r>
            <a:r>
              <a:rPr sz="1500" b="0" dirty="0">
                <a:solidFill>
                  <a:srgbClr val="F8F9FC"/>
                </a:solidFill>
                <a:latin typeface="Arial"/>
              </a:rPr>
              <a:t>, </a:t>
            </a:r>
            <a:r>
              <a:rPr sz="1500" b="0" dirty="0" err="1">
                <a:solidFill>
                  <a:srgbClr val="F8F9FC"/>
                </a:solidFill>
                <a:latin typeface="Arial"/>
              </a:rPr>
              <a:t>phù</a:t>
            </a:r>
            <a:r>
              <a:rPr sz="1500" b="0" dirty="0">
                <a:solidFill>
                  <a:srgbClr val="F8F9FC"/>
                </a:solidFill>
                <a:latin typeface="Arial"/>
              </a:rPr>
              <a:t> </a:t>
            </a:r>
            <a:r>
              <a:rPr sz="1500" b="0" dirty="0" err="1">
                <a:solidFill>
                  <a:srgbClr val="F8F9FC"/>
                </a:solidFill>
                <a:latin typeface="Arial"/>
              </a:rPr>
              <a:t>hợp</a:t>
            </a:r>
            <a:r>
              <a:rPr sz="1500" b="0" dirty="0">
                <a:solidFill>
                  <a:srgbClr val="F8F9FC"/>
                </a:solidFill>
                <a:latin typeface="Arial"/>
              </a:rPr>
              <a:t> </a:t>
            </a:r>
            <a:r>
              <a:rPr sz="1500" b="0" dirty="0" err="1">
                <a:solidFill>
                  <a:srgbClr val="F8F9FC"/>
                </a:solidFill>
                <a:latin typeface="Arial"/>
              </a:rPr>
              <a:t>huấn</a:t>
            </a:r>
            <a:r>
              <a:rPr sz="1500" b="0" dirty="0">
                <a:solidFill>
                  <a:srgbClr val="F8F9FC"/>
                </a:solidFill>
                <a:latin typeface="Arial"/>
              </a:rPr>
              <a:t> </a:t>
            </a:r>
            <a:r>
              <a:rPr sz="1500" b="0" dirty="0" err="1">
                <a:solidFill>
                  <a:srgbClr val="F8F9FC"/>
                </a:solidFill>
                <a:latin typeface="Arial"/>
              </a:rPr>
              <a:t>luyện</a:t>
            </a:r>
            <a:r>
              <a:rPr sz="1500" b="0" dirty="0">
                <a:solidFill>
                  <a:srgbClr val="F8F9FC"/>
                </a:solidFill>
                <a:latin typeface="Arial"/>
              </a:rPr>
              <a:t> AI.</a:t>
            </a:r>
          </a:p>
        </p:txBody>
      </p:sp>
      <p:sp>
        <p:nvSpPr>
          <p:cNvPr id="10" name="TextBox 9"/>
          <p:cNvSpPr txBox="1"/>
          <p:nvPr/>
        </p:nvSpPr>
        <p:spPr>
          <a:xfrm>
            <a:off x="2349499" y="3968750"/>
            <a:ext cx="3809999" cy="349250"/>
          </a:xfrm>
          <a:prstGeom prst="rect">
            <a:avLst/>
          </a:prstGeom>
          <a:noFill/>
        </p:spPr>
        <p:txBody>
          <a:bodyPr wrap="square" lIns="0" tIns="0" rIns="0" bIns="0" anchor="ctr">
            <a:spAutoFit/>
          </a:bodyPr>
          <a:lstStyle/>
          <a:p>
            <a:pPr algn="l"/>
            <a:r>
              <a:rPr sz="1700" b="1" dirty="0" err="1">
                <a:solidFill>
                  <a:srgbClr val="F8F9FC"/>
                </a:solidFill>
                <a:latin typeface="Arial"/>
              </a:rPr>
              <a:t>Giới</a:t>
            </a:r>
            <a:r>
              <a:rPr sz="1700" b="1" dirty="0">
                <a:solidFill>
                  <a:srgbClr val="F8F9FC"/>
                </a:solidFill>
                <a:latin typeface="Arial"/>
              </a:rPr>
              <a:t> </a:t>
            </a:r>
            <a:r>
              <a:rPr sz="1700" b="1" dirty="0" err="1">
                <a:solidFill>
                  <a:srgbClr val="F8F9FC"/>
                </a:solidFill>
                <a:latin typeface="Arial"/>
              </a:rPr>
              <a:t>hạn</a:t>
            </a:r>
            <a:r>
              <a:rPr sz="1700" b="1" dirty="0">
                <a:solidFill>
                  <a:srgbClr val="F8F9FC"/>
                </a:solidFill>
                <a:latin typeface="Arial"/>
              </a:rPr>
              <a:t> </a:t>
            </a:r>
            <a:r>
              <a:rPr sz="1700" b="1" dirty="0" err="1">
                <a:solidFill>
                  <a:srgbClr val="F8F9FC"/>
                </a:solidFill>
                <a:latin typeface="Arial"/>
              </a:rPr>
              <a:t>phần</a:t>
            </a:r>
            <a:r>
              <a:rPr sz="1700" b="1" dirty="0">
                <a:solidFill>
                  <a:srgbClr val="F8F9FC"/>
                </a:solidFill>
                <a:latin typeface="Arial"/>
              </a:rPr>
              <a:t> </a:t>
            </a:r>
            <a:r>
              <a:rPr sz="1700" b="1" dirty="0" err="1">
                <a:solidFill>
                  <a:srgbClr val="F8F9FC"/>
                </a:solidFill>
                <a:latin typeface="Arial"/>
              </a:rPr>
              <a:t>cứng</a:t>
            </a:r>
            <a:endParaRPr sz="1700" b="1" dirty="0">
              <a:solidFill>
                <a:srgbClr val="F8F9FC"/>
              </a:solidFill>
              <a:latin typeface="Arial"/>
            </a:endParaRPr>
          </a:p>
        </p:txBody>
      </p:sp>
      <p:sp>
        <p:nvSpPr>
          <p:cNvPr id="11" name="TextBox 10"/>
          <p:cNvSpPr txBox="1"/>
          <p:nvPr/>
        </p:nvSpPr>
        <p:spPr>
          <a:xfrm>
            <a:off x="2476499" y="4286250"/>
            <a:ext cx="4571999" cy="666750"/>
          </a:xfrm>
          <a:prstGeom prst="rect">
            <a:avLst/>
          </a:prstGeom>
          <a:noFill/>
        </p:spPr>
        <p:txBody>
          <a:bodyPr wrap="square" lIns="0" tIns="0" rIns="0" bIns="0" anchor="ctr">
            <a:spAutoFit/>
          </a:bodyPr>
          <a:lstStyle/>
          <a:p>
            <a:pPr algn="l"/>
            <a:r>
              <a:rPr sz="1500" b="0">
                <a:solidFill>
                  <a:srgbClr val="F8F9FC"/>
                </a:solidFill>
                <a:latin typeface="Arial"/>
              </a:rPr>
              <a:t>• Tối ưu để chạy nhanh trên phổ thông
CPU/GPU, giới hạn 512 token cho mô hình.</a:t>
            </a:r>
          </a:p>
        </p:txBody>
      </p:sp>
      <p:sp>
        <p:nvSpPr>
          <p:cNvPr id="12" name="TextBox 11"/>
          <p:cNvSpPr txBox="1"/>
          <p:nvPr/>
        </p:nvSpPr>
        <p:spPr>
          <a:xfrm>
            <a:off x="7778749" y="2032000"/>
            <a:ext cx="3174999" cy="349250"/>
          </a:xfrm>
          <a:prstGeom prst="rect">
            <a:avLst/>
          </a:prstGeom>
          <a:noFill/>
        </p:spPr>
        <p:txBody>
          <a:bodyPr wrap="square" lIns="0" tIns="0" rIns="0" bIns="0" anchor="ctr">
            <a:spAutoFit/>
          </a:bodyPr>
          <a:lstStyle/>
          <a:p>
            <a:pPr algn="l"/>
            <a:r>
              <a:rPr sz="1700" b="1">
                <a:solidFill>
                  <a:srgbClr val="F8F9FC"/>
                </a:solidFill>
                <a:latin typeface="Arial"/>
              </a:rPr>
              <a:t>Tiêu chí chính</a:t>
            </a:r>
          </a:p>
        </p:txBody>
      </p:sp>
      <p:sp>
        <p:nvSpPr>
          <p:cNvPr id="13" name="TextBox 12"/>
          <p:cNvSpPr txBox="1"/>
          <p:nvPr/>
        </p:nvSpPr>
        <p:spPr>
          <a:xfrm>
            <a:off x="7842249" y="2327761"/>
            <a:ext cx="3492499" cy="995978"/>
          </a:xfrm>
          <a:prstGeom prst="rect">
            <a:avLst/>
          </a:prstGeom>
          <a:noFill/>
        </p:spPr>
        <p:txBody>
          <a:bodyPr wrap="square" lIns="0" tIns="0" rIns="0" bIns="0" anchor="ctr">
            <a:spAutoFit/>
          </a:bodyPr>
          <a:lstStyle/>
          <a:p>
            <a:pPr algn="l">
              <a:lnSpc>
                <a:spcPct val="150000"/>
              </a:lnSpc>
            </a:pPr>
            <a:r>
              <a:rPr sz="1500" b="0" dirty="0">
                <a:solidFill>
                  <a:srgbClr val="F8F9FC"/>
                </a:solidFill>
                <a:latin typeface="Arial"/>
              </a:rPr>
              <a:t>• </a:t>
            </a:r>
            <a:r>
              <a:rPr sz="1500" b="0" dirty="0" err="1">
                <a:solidFill>
                  <a:srgbClr val="F8F9FC"/>
                </a:solidFill>
                <a:latin typeface="Arial"/>
              </a:rPr>
              <a:t>Tập</a:t>
            </a:r>
            <a:r>
              <a:rPr sz="1500" b="0" dirty="0">
                <a:solidFill>
                  <a:srgbClr val="F8F9FC"/>
                </a:solidFill>
                <a:latin typeface="Arial"/>
              </a:rPr>
              <a:t> </a:t>
            </a:r>
            <a:r>
              <a:rPr sz="1500" b="0" dirty="0" err="1">
                <a:solidFill>
                  <a:srgbClr val="F8F9FC"/>
                </a:solidFill>
                <a:latin typeface="Arial"/>
              </a:rPr>
              <a:t>trung</a:t>
            </a:r>
            <a:r>
              <a:rPr sz="1500" b="0" dirty="0">
                <a:solidFill>
                  <a:srgbClr val="F8F9FC"/>
                </a:solidFill>
                <a:latin typeface="Arial"/>
              </a:rPr>
              <a:t> </a:t>
            </a:r>
            <a:r>
              <a:rPr sz="1500" b="0" dirty="0" err="1">
                <a:solidFill>
                  <a:srgbClr val="F8F9FC"/>
                </a:solidFill>
                <a:latin typeface="Arial"/>
              </a:rPr>
              <a:t>phát</a:t>
            </a:r>
            <a:r>
              <a:rPr sz="1500" b="0" dirty="0">
                <a:solidFill>
                  <a:srgbClr val="F8F9FC"/>
                </a:solidFill>
                <a:latin typeface="Arial"/>
              </a:rPr>
              <a:t> </a:t>
            </a:r>
            <a:r>
              <a:rPr sz="1500" b="0" dirty="0" err="1">
                <a:solidFill>
                  <a:srgbClr val="F8F9FC"/>
                </a:solidFill>
                <a:latin typeface="Arial"/>
              </a:rPr>
              <a:t>hiện</a:t>
            </a:r>
            <a:r>
              <a:rPr sz="1500" b="0" dirty="0">
                <a:solidFill>
                  <a:srgbClr val="F8F9FC"/>
                </a:solidFill>
                <a:latin typeface="Arial"/>
              </a:rPr>
              <a:t> </a:t>
            </a:r>
            <a:r>
              <a:rPr sz="1500" b="0" dirty="0" err="1">
                <a:solidFill>
                  <a:srgbClr val="F8F9FC"/>
                </a:solidFill>
                <a:latin typeface="Arial"/>
              </a:rPr>
              <a:t>lỗi</a:t>
            </a:r>
            <a:r>
              <a:rPr sz="1500" b="0" dirty="0">
                <a:solidFill>
                  <a:srgbClr val="F8F9FC"/>
                </a:solidFill>
                <a:latin typeface="Arial"/>
              </a:rPr>
              <a:t> CWE-119 </a:t>
            </a:r>
            <a:r>
              <a:rPr sz="1500" b="0" dirty="0" err="1">
                <a:solidFill>
                  <a:srgbClr val="F8F9FC"/>
                </a:solidFill>
                <a:latin typeface="Arial"/>
              </a:rPr>
              <a:t>và</a:t>
            </a:r>
            <a:r>
              <a:rPr sz="1500" b="0" dirty="0">
                <a:solidFill>
                  <a:srgbClr val="F8F9FC"/>
                </a:solidFill>
                <a:latin typeface="Arial"/>
              </a:rPr>
              <a:t>
CWE-399, </a:t>
            </a:r>
            <a:r>
              <a:rPr sz="1500" b="0" dirty="0" err="1">
                <a:solidFill>
                  <a:srgbClr val="F8F9FC"/>
                </a:solidFill>
                <a:latin typeface="Arial"/>
              </a:rPr>
              <a:t>các</a:t>
            </a:r>
            <a:r>
              <a:rPr sz="1500" b="0" dirty="0">
                <a:solidFill>
                  <a:srgbClr val="F8F9FC"/>
                </a:solidFill>
                <a:latin typeface="Arial"/>
              </a:rPr>
              <a:t> </a:t>
            </a:r>
            <a:r>
              <a:rPr sz="1500" b="0" dirty="0" err="1">
                <a:solidFill>
                  <a:srgbClr val="F8F9FC"/>
                </a:solidFill>
                <a:latin typeface="Arial"/>
              </a:rPr>
              <a:t>loại</a:t>
            </a:r>
            <a:r>
              <a:rPr sz="1500" b="0" dirty="0">
                <a:solidFill>
                  <a:srgbClr val="F8F9FC"/>
                </a:solidFill>
                <a:latin typeface="Arial"/>
              </a:rPr>
              <a:t> </a:t>
            </a:r>
            <a:r>
              <a:rPr sz="1500" b="0" dirty="0" err="1">
                <a:solidFill>
                  <a:srgbClr val="F8F9FC"/>
                </a:solidFill>
                <a:latin typeface="Arial"/>
              </a:rPr>
              <a:t>lỗi</a:t>
            </a:r>
            <a:r>
              <a:rPr sz="1500" b="0" dirty="0">
                <a:solidFill>
                  <a:srgbClr val="F8F9FC"/>
                </a:solidFill>
                <a:latin typeface="Arial"/>
              </a:rPr>
              <a:t> </a:t>
            </a:r>
            <a:r>
              <a:rPr sz="1500" b="0" dirty="0" err="1">
                <a:solidFill>
                  <a:srgbClr val="F8F9FC"/>
                </a:solidFill>
                <a:latin typeface="Arial"/>
              </a:rPr>
              <a:t>phổ</a:t>
            </a:r>
            <a:r>
              <a:rPr sz="1500" b="0" dirty="0">
                <a:solidFill>
                  <a:srgbClr val="F8F9FC"/>
                </a:solidFill>
                <a:latin typeface="Arial"/>
              </a:rPr>
              <a:t> </a:t>
            </a:r>
            <a:r>
              <a:rPr sz="1500" b="0" dirty="0" err="1">
                <a:solidFill>
                  <a:srgbClr val="F8F9FC"/>
                </a:solidFill>
                <a:latin typeface="Arial"/>
              </a:rPr>
              <a:t>biến</a:t>
            </a:r>
            <a:r>
              <a:rPr sz="1500" b="0" dirty="0">
                <a:solidFill>
                  <a:srgbClr val="F8F9FC"/>
                </a:solidFill>
                <a:latin typeface="Arial"/>
              </a:rPr>
              <a:t> </a:t>
            </a:r>
            <a:r>
              <a:rPr sz="1500" b="0" dirty="0" err="1">
                <a:solidFill>
                  <a:srgbClr val="F8F9FC"/>
                </a:solidFill>
                <a:latin typeface="Arial"/>
              </a:rPr>
              <a:t>và</a:t>
            </a:r>
            <a:r>
              <a:rPr sz="1500" b="0" dirty="0">
                <a:solidFill>
                  <a:srgbClr val="F8F9FC"/>
                </a:solidFill>
                <a:latin typeface="Arial"/>
              </a:rPr>
              <a:t>
</a:t>
            </a:r>
            <a:r>
              <a:rPr sz="1500" b="0" dirty="0" err="1">
                <a:solidFill>
                  <a:srgbClr val="F8F9FC"/>
                </a:solidFill>
                <a:latin typeface="Arial"/>
              </a:rPr>
              <a:t>nguy</a:t>
            </a:r>
            <a:r>
              <a:rPr sz="1500" b="0" dirty="0">
                <a:solidFill>
                  <a:srgbClr val="F8F9FC"/>
                </a:solidFill>
                <a:latin typeface="Arial"/>
              </a:rPr>
              <a:t> </a:t>
            </a:r>
            <a:r>
              <a:rPr sz="1500" b="0" dirty="0" err="1">
                <a:solidFill>
                  <a:srgbClr val="F8F9FC"/>
                </a:solidFill>
                <a:latin typeface="Arial"/>
              </a:rPr>
              <a:t>hiểm</a:t>
            </a:r>
            <a:r>
              <a:rPr sz="1500" b="0" dirty="0">
                <a:solidFill>
                  <a:srgbClr val="F8F9FC"/>
                </a:solidFill>
                <a:latin typeface="Arial"/>
              </a:rPr>
              <a:t> </a:t>
            </a:r>
            <a:r>
              <a:rPr sz="1500" b="0" dirty="0" err="1">
                <a:solidFill>
                  <a:srgbClr val="F8F9FC"/>
                </a:solidFill>
                <a:latin typeface="Arial"/>
              </a:rPr>
              <a:t>nhất</a:t>
            </a:r>
            <a:r>
              <a:rPr sz="1500" b="0" dirty="0">
                <a:solidFill>
                  <a:srgbClr val="F8F9FC"/>
                </a:solidFill>
                <a:latin typeface="Arial"/>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8.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857249" y="666750"/>
            <a:ext cx="6984999" cy="857250"/>
          </a:xfrm>
          <a:prstGeom prst="rect">
            <a:avLst/>
          </a:prstGeom>
          <a:solidFill>
            <a:srgbClr val="06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37360" y="2286000"/>
            <a:ext cx="5533388" cy="1333500"/>
          </a:xfrm>
          <a:prstGeom prst="rect">
            <a:avLst/>
          </a:prstGeom>
          <a:solidFill>
            <a:srgbClr val="06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1015999" y="920750"/>
            <a:ext cx="6667499" cy="412749"/>
          </a:xfrm>
          <a:prstGeom prst="rect">
            <a:avLst/>
          </a:prstGeom>
          <a:noFill/>
        </p:spPr>
        <p:txBody>
          <a:bodyPr wrap="square" lIns="0" tIns="0" rIns="0" bIns="0" anchor="ctr">
            <a:spAutoFit/>
          </a:bodyPr>
          <a:lstStyle/>
          <a:p>
            <a:pPr algn="l"/>
            <a:r>
              <a:rPr sz="2500" b="1" dirty="0">
                <a:solidFill>
                  <a:srgbClr val="F8F9FC"/>
                </a:solidFill>
                <a:latin typeface="Arial"/>
              </a:rPr>
              <a:t>Khai </a:t>
            </a:r>
            <a:r>
              <a:rPr sz="2500" b="1" dirty="0" err="1">
                <a:solidFill>
                  <a:srgbClr val="F8F9FC"/>
                </a:solidFill>
                <a:latin typeface="Arial"/>
              </a:rPr>
              <a:t>báo</a:t>
            </a:r>
            <a:r>
              <a:rPr sz="2500" b="1" dirty="0">
                <a:solidFill>
                  <a:srgbClr val="F8F9FC"/>
                </a:solidFill>
                <a:latin typeface="Arial"/>
              </a:rPr>
              <a:t> </a:t>
            </a:r>
            <a:r>
              <a:rPr sz="2500" b="1" dirty="0" err="1">
                <a:solidFill>
                  <a:srgbClr val="F8F9FC"/>
                </a:solidFill>
                <a:latin typeface="Arial"/>
              </a:rPr>
              <a:t>hệ</a:t>
            </a:r>
            <a:r>
              <a:rPr sz="2500" b="1" dirty="0">
                <a:solidFill>
                  <a:srgbClr val="F8F9FC"/>
                </a:solidFill>
                <a:latin typeface="Arial"/>
              </a:rPr>
              <a:t> </a:t>
            </a:r>
            <a:r>
              <a:rPr sz="2500" b="1" dirty="0" err="1">
                <a:solidFill>
                  <a:srgbClr val="F8F9FC"/>
                </a:solidFill>
                <a:latin typeface="Arial"/>
              </a:rPr>
              <a:t>thống</a:t>
            </a:r>
            <a:r>
              <a:rPr sz="2500" b="1" dirty="0">
                <a:solidFill>
                  <a:srgbClr val="F8F9FC"/>
                </a:solidFill>
                <a:latin typeface="Arial"/>
              </a:rPr>
              <a:t> </a:t>
            </a:r>
            <a:r>
              <a:rPr sz="2500" b="1" dirty="0" err="1">
                <a:solidFill>
                  <a:srgbClr val="F8F9FC"/>
                </a:solidFill>
                <a:latin typeface="Arial"/>
              </a:rPr>
              <a:t>kiến</a:t>
            </a:r>
            <a:r>
              <a:rPr sz="2500" b="1" dirty="0">
                <a:solidFill>
                  <a:srgbClr val="F8F9FC"/>
                </a:solidFill>
                <a:latin typeface="Arial"/>
              </a:rPr>
              <a:t> </a:t>
            </a:r>
            <a:r>
              <a:rPr sz="2500" b="1" dirty="0" err="1">
                <a:solidFill>
                  <a:srgbClr val="F8F9FC"/>
                </a:solidFill>
                <a:latin typeface="Arial"/>
              </a:rPr>
              <a:t>trúc</a:t>
            </a:r>
            <a:r>
              <a:rPr sz="2500" b="1" dirty="0">
                <a:solidFill>
                  <a:srgbClr val="F8F9FC"/>
                </a:solidFill>
                <a:latin typeface="Arial"/>
              </a:rPr>
              <a:t> &amp; </a:t>
            </a:r>
            <a:r>
              <a:rPr sz="2500" b="1" dirty="0" err="1">
                <a:solidFill>
                  <a:srgbClr val="F8F9FC"/>
                </a:solidFill>
                <a:latin typeface="Arial"/>
              </a:rPr>
              <a:t>phát</a:t>
            </a:r>
            <a:r>
              <a:rPr sz="2500" b="1" dirty="0">
                <a:solidFill>
                  <a:srgbClr val="F8F9FC"/>
                </a:solidFill>
                <a:latin typeface="Arial"/>
              </a:rPr>
              <a:t> </a:t>
            </a:r>
            <a:r>
              <a:rPr sz="2500" b="1" dirty="0" err="1">
                <a:solidFill>
                  <a:srgbClr val="F8F9FC"/>
                </a:solidFill>
                <a:latin typeface="Arial"/>
              </a:rPr>
              <a:t>triển</a:t>
            </a:r>
            <a:endParaRPr sz="2500" b="1" dirty="0">
              <a:solidFill>
                <a:srgbClr val="F8F9FC"/>
              </a:solidFill>
              <a:latin typeface="Arial"/>
            </a:endParaRPr>
          </a:p>
        </p:txBody>
      </p:sp>
      <p:sp>
        <p:nvSpPr>
          <p:cNvPr id="6" name="TextBox 5"/>
          <p:cNvSpPr txBox="1"/>
          <p:nvPr/>
        </p:nvSpPr>
        <p:spPr>
          <a:xfrm>
            <a:off x="1809749" y="2508250"/>
            <a:ext cx="4762499" cy="349250"/>
          </a:xfrm>
          <a:prstGeom prst="rect">
            <a:avLst/>
          </a:prstGeom>
          <a:noFill/>
        </p:spPr>
        <p:txBody>
          <a:bodyPr wrap="square" lIns="0" tIns="0" rIns="0" bIns="0" anchor="ctr">
            <a:spAutoFit/>
          </a:bodyPr>
          <a:lstStyle/>
          <a:p>
            <a:pPr algn="l"/>
            <a:r>
              <a:rPr sz="1700" b="1" dirty="0" err="1">
                <a:solidFill>
                  <a:srgbClr val="F8F9FC"/>
                </a:solidFill>
                <a:latin typeface="Arial"/>
              </a:rPr>
              <a:t>Tổng</a:t>
            </a:r>
            <a:r>
              <a:rPr sz="1700" b="1" dirty="0">
                <a:solidFill>
                  <a:srgbClr val="F8F9FC"/>
                </a:solidFill>
                <a:latin typeface="Arial"/>
              </a:rPr>
              <a:t> </a:t>
            </a:r>
            <a:r>
              <a:rPr sz="1700" b="1" dirty="0" err="1">
                <a:solidFill>
                  <a:srgbClr val="F8F9FC"/>
                </a:solidFill>
                <a:latin typeface="Arial"/>
              </a:rPr>
              <a:t>quan</a:t>
            </a:r>
            <a:r>
              <a:rPr sz="1700" b="1" dirty="0">
                <a:solidFill>
                  <a:srgbClr val="F8F9FC"/>
                </a:solidFill>
                <a:latin typeface="Arial"/>
              </a:rPr>
              <a:t> </a:t>
            </a:r>
            <a:r>
              <a:rPr sz="1700" b="1" dirty="0" err="1">
                <a:solidFill>
                  <a:srgbClr val="F8F9FC"/>
                </a:solidFill>
                <a:latin typeface="Arial"/>
              </a:rPr>
              <a:t>hệ</a:t>
            </a:r>
            <a:r>
              <a:rPr sz="1700" b="1" dirty="0">
                <a:solidFill>
                  <a:srgbClr val="F8F9FC"/>
                </a:solidFill>
                <a:latin typeface="Arial"/>
              </a:rPr>
              <a:t> </a:t>
            </a:r>
            <a:r>
              <a:rPr sz="1700" b="1" dirty="0" err="1">
                <a:solidFill>
                  <a:srgbClr val="F8F9FC"/>
                </a:solidFill>
                <a:latin typeface="Arial"/>
              </a:rPr>
              <a:t>thống</a:t>
            </a:r>
            <a:endParaRPr sz="1700" b="1" dirty="0">
              <a:solidFill>
                <a:srgbClr val="F8F9FC"/>
              </a:solidFill>
              <a:latin typeface="Arial"/>
            </a:endParaRPr>
          </a:p>
        </p:txBody>
      </p:sp>
      <p:sp>
        <p:nvSpPr>
          <p:cNvPr id="7" name="TextBox 6"/>
          <p:cNvSpPr txBox="1"/>
          <p:nvPr/>
        </p:nvSpPr>
        <p:spPr>
          <a:xfrm>
            <a:off x="1809749" y="2794000"/>
            <a:ext cx="5079999" cy="603250"/>
          </a:xfrm>
          <a:prstGeom prst="rect">
            <a:avLst/>
          </a:prstGeom>
          <a:noFill/>
        </p:spPr>
        <p:txBody>
          <a:bodyPr wrap="square" lIns="0" tIns="0" rIns="0" bIns="0" anchor="ctr">
            <a:spAutoFit/>
          </a:bodyPr>
          <a:lstStyle/>
          <a:p>
            <a:pPr algn="l"/>
            <a:r>
              <a:rPr sz="1500" b="0" dirty="0" err="1">
                <a:solidFill>
                  <a:srgbClr val="F8F9FC"/>
                </a:solidFill>
                <a:latin typeface="Arial"/>
              </a:rPr>
              <a:t>Từ</a:t>
            </a:r>
            <a:r>
              <a:rPr sz="1500" b="0" dirty="0">
                <a:solidFill>
                  <a:srgbClr val="F8F9FC"/>
                </a:solidFill>
                <a:latin typeface="Arial"/>
              </a:rPr>
              <a:t> </a:t>
            </a:r>
            <a:r>
              <a:rPr sz="1500" b="0" dirty="0" err="1">
                <a:solidFill>
                  <a:srgbClr val="F8F9FC"/>
                </a:solidFill>
                <a:latin typeface="Arial"/>
              </a:rPr>
              <a:t>lý</a:t>
            </a:r>
            <a:r>
              <a:rPr sz="1500" b="0" dirty="0">
                <a:solidFill>
                  <a:srgbClr val="F8F9FC"/>
                </a:solidFill>
                <a:latin typeface="Arial"/>
              </a:rPr>
              <a:t> </a:t>
            </a:r>
            <a:r>
              <a:rPr sz="1500" b="0" dirty="0" err="1">
                <a:solidFill>
                  <a:srgbClr val="F8F9FC"/>
                </a:solidFill>
                <a:latin typeface="Arial"/>
              </a:rPr>
              <a:t>thuyết</a:t>
            </a:r>
            <a:r>
              <a:rPr sz="1500" b="0" dirty="0">
                <a:solidFill>
                  <a:srgbClr val="F8F9FC"/>
                </a:solidFill>
                <a:latin typeface="Arial"/>
              </a:rPr>
              <a:t> </a:t>
            </a:r>
            <a:r>
              <a:rPr sz="1500" b="0" dirty="0" err="1">
                <a:solidFill>
                  <a:srgbClr val="F8F9FC"/>
                </a:solidFill>
                <a:latin typeface="Arial"/>
              </a:rPr>
              <a:t>đến</a:t>
            </a:r>
            <a:r>
              <a:rPr sz="1500" b="0" dirty="0">
                <a:solidFill>
                  <a:srgbClr val="F8F9FC"/>
                </a:solidFill>
                <a:latin typeface="Arial"/>
              </a:rPr>
              <a:t> </a:t>
            </a:r>
            <a:r>
              <a:rPr sz="1500" b="0" dirty="0" err="1">
                <a:solidFill>
                  <a:srgbClr val="F8F9FC"/>
                </a:solidFill>
                <a:latin typeface="Arial"/>
              </a:rPr>
              <a:t>ứng</a:t>
            </a:r>
            <a:r>
              <a:rPr sz="1500" b="0" dirty="0">
                <a:solidFill>
                  <a:srgbClr val="F8F9FC"/>
                </a:solidFill>
                <a:latin typeface="Arial"/>
              </a:rPr>
              <a:t> </a:t>
            </a:r>
            <a:r>
              <a:rPr sz="1500" b="0" dirty="0" err="1">
                <a:solidFill>
                  <a:srgbClr val="F8F9FC"/>
                </a:solidFill>
                <a:latin typeface="Arial"/>
              </a:rPr>
              <a:t>dụng</a:t>
            </a:r>
            <a:r>
              <a:rPr sz="1500" b="0" dirty="0">
                <a:solidFill>
                  <a:srgbClr val="F8F9FC"/>
                </a:solidFill>
                <a:latin typeface="Arial"/>
              </a:rPr>
              <a:t> </a:t>
            </a:r>
            <a:r>
              <a:rPr sz="1500" b="0" dirty="0" err="1">
                <a:solidFill>
                  <a:srgbClr val="F8F9FC"/>
                </a:solidFill>
                <a:latin typeface="Arial"/>
              </a:rPr>
              <a:t>thực</a:t>
            </a:r>
            <a:r>
              <a:rPr sz="1500" b="0" dirty="0">
                <a:solidFill>
                  <a:srgbClr val="F8F9FC"/>
                </a:solidFill>
                <a:latin typeface="Arial"/>
              </a:rPr>
              <a:t> </a:t>
            </a:r>
            <a:r>
              <a:rPr sz="1500" b="0" dirty="0" err="1">
                <a:solidFill>
                  <a:srgbClr val="F8F9FC"/>
                </a:solidFill>
                <a:latin typeface="Arial"/>
              </a:rPr>
              <a:t>tế</a:t>
            </a:r>
            <a:r>
              <a:rPr sz="1500" b="0" dirty="0">
                <a:solidFill>
                  <a:srgbClr val="F8F9FC"/>
                </a:solidFill>
                <a:latin typeface="Arial"/>
              </a:rPr>
              <a:t>, </a:t>
            </a:r>
            <a:r>
              <a:rPr sz="1500" b="0" dirty="0" err="1">
                <a:solidFill>
                  <a:srgbClr val="F8F9FC"/>
                </a:solidFill>
                <a:latin typeface="Arial"/>
              </a:rPr>
              <a:t>tích</a:t>
            </a:r>
            <a:r>
              <a:rPr sz="1500" b="0" dirty="0">
                <a:solidFill>
                  <a:srgbClr val="F8F9FC"/>
                </a:solidFill>
                <a:latin typeface="Arial"/>
              </a:rPr>
              <a:t> </a:t>
            </a:r>
            <a:r>
              <a:rPr sz="1500" b="0" dirty="0" err="1">
                <a:solidFill>
                  <a:srgbClr val="F8F9FC"/>
                </a:solidFill>
                <a:latin typeface="Arial"/>
              </a:rPr>
              <a:t>hợp</a:t>
            </a:r>
            <a:r>
              <a:rPr sz="1500" b="0" dirty="0">
                <a:solidFill>
                  <a:srgbClr val="F8F9FC"/>
                </a:solidFill>
                <a:latin typeface="Arial"/>
              </a:rPr>
              <a:t> AI, backend,
frontend.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5FB13-94A1-1A37-C9AC-D56927EAA300}"/>
            </a:ext>
          </a:extLst>
        </p:cNvPr>
        <p:cNvGrpSpPr/>
        <p:nvPr/>
      </p:nvGrpSpPr>
      <p:grpSpPr>
        <a:xfrm>
          <a:off x="0" y="0"/>
          <a:ext cx="0" cy="0"/>
          <a:chOff x="0" y="0"/>
          <a:chExt cx="0" cy="0"/>
        </a:xfrm>
      </p:grpSpPr>
      <p:pic>
        <p:nvPicPr>
          <p:cNvPr id="2" name="Picture 1" descr="3.png">
            <a:extLst>
              <a:ext uri="{FF2B5EF4-FFF2-40B4-BE49-F238E27FC236}">
                <a16:creationId xmlns:a16="http://schemas.microsoft.com/office/drawing/2014/main" id="{86A7BA2A-3A42-416A-8D03-3659465BD1F6}"/>
              </a:ext>
            </a:extLst>
          </p:cNvPr>
          <p:cNvPicPr>
            <a:picLocks noChangeAspect="1"/>
          </p:cNvPicPr>
          <p:nvPr/>
        </p:nvPicPr>
        <p:blipFill>
          <a:blip r:embed="rId2"/>
          <a:stretch>
            <a:fillRect/>
          </a:stretch>
        </p:blipFill>
        <p:spPr>
          <a:xfrm>
            <a:off x="0" y="0"/>
            <a:ext cx="12191999" cy="6858000"/>
          </a:xfrm>
          <a:prstGeom prst="rect">
            <a:avLst/>
          </a:prstGeom>
        </p:spPr>
      </p:pic>
      <p:sp>
        <p:nvSpPr>
          <p:cNvPr id="3" name="Rectangle 2">
            <a:extLst>
              <a:ext uri="{FF2B5EF4-FFF2-40B4-BE49-F238E27FC236}">
                <a16:creationId xmlns:a16="http://schemas.microsoft.com/office/drawing/2014/main" id="{C4C649B9-D159-6B96-1072-6A5A155B1BEE}"/>
              </a:ext>
            </a:extLst>
          </p:cNvPr>
          <p:cNvSpPr/>
          <p:nvPr/>
        </p:nvSpPr>
        <p:spPr>
          <a:xfrm>
            <a:off x="963561" y="2222500"/>
            <a:ext cx="4941937" cy="1966042"/>
          </a:xfrm>
          <a:prstGeom prst="rect">
            <a:avLst/>
          </a:prstGeom>
          <a:solidFill>
            <a:srgbClr val="06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FD0DAC02-8E87-05F9-DBA1-4539C0B0D92D}"/>
              </a:ext>
            </a:extLst>
          </p:cNvPr>
          <p:cNvSpPr txBox="1"/>
          <p:nvPr/>
        </p:nvSpPr>
        <p:spPr>
          <a:xfrm>
            <a:off x="1079499" y="2467431"/>
            <a:ext cx="825499" cy="430887"/>
          </a:xfrm>
          <a:prstGeom prst="rect">
            <a:avLst/>
          </a:prstGeom>
          <a:noFill/>
        </p:spPr>
        <p:txBody>
          <a:bodyPr wrap="square" lIns="0" tIns="0" rIns="0" bIns="0" anchor="ctr">
            <a:spAutoFit/>
          </a:bodyPr>
          <a:lstStyle/>
          <a:p>
            <a:pPr algn="l"/>
            <a:r>
              <a:rPr sz="2800" b="1" dirty="0">
                <a:ln>
                  <a:solidFill>
                    <a:schemeClr val="accent1"/>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glow rad="139700">
                    <a:schemeClr val="accent3">
                      <a:satMod val="175000"/>
                      <a:alpha val="40000"/>
                    </a:schemeClr>
                  </a:glow>
                </a:effectLst>
                <a:latin typeface="Arial"/>
              </a:rPr>
              <a:t>0</a:t>
            </a:r>
            <a:r>
              <a:rPr lang="en-US" sz="2800" b="1" dirty="0">
                <a:ln>
                  <a:solidFill>
                    <a:schemeClr val="accent1"/>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glow rad="139700">
                    <a:schemeClr val="accent3">
                      <a:satMod val="175000"/>
                      <a:alpha val="40000"/>
                    </a:schemeClr>
                  </a:glow>
                </a:effectLst>
                <a:latin typeface="Arial"/>
              </a:rPr>
              <a:t>2</a:t>
            </a:r>
            <a:endParaRPr sz="2800" b="1" dirty="0">
              <a:ln>
                <a:solidFill>
                  <a:schemeClr val="accent1"/>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glow rad="139700">
                  <a:schemeClr val="accent3">
                    <a:satMod val="175000"/>
                    <a:alpha val="40000"/>
                  </a:schemeClr>
                </a:glow>
              </a:effectLst>
              <a:latin typeface="Arial"/>
            </a:endParaRPr>
          </a:p>
        </p:txBody>
      </p:sp>
      <p:sp>
        <p:nvSpPr>
          <p:cNvPr id="5" name="TextBox 4">
            <a:extLst>
              <a:ext uri="{FF2B5EF4-FFF2-40B4-BE49-F238E27FC236}">
                <a16:creationId xmlns:a16="http://schemas.microsoft.com/office/drawing/2014/main" id="{8F5E9512-790C-AC31-FE5E-C91D034AC0C3}"/>
              </a:ext>
            </a:extLst>
          </p:cNvPr>
          <p:cNvSpPr txBox="1"/>
          <p:nvPr/>
        </p:nvSpPr>
        <p:spPr>
          <a:xfrm>
            <a:off x="1079499" y="2991306"/>
            <a:ext cx="4444999" cy="430887"/>
          </a:xfrm>
          <a:prstGeom prst="rect">
            <a:avLst/>
          </a:prstGeom>
          <a:noFill/>
        </p:spPr>
        <p:txBody>
          <a:bodyPr wrap="square" lIns="0" tIns="0" rIns="0" bIns="0" anchor="ctr">
            <a:spAutoFit/>
          </a:bodyPr>
          <a:lstStyle/>
          <a:p>
            <a:pPr algn="l"/>
            <a:r>
              <a:rPr lang="en-US" sz="2800" b="1" dirty="0" err="1">
                <a:ln>
                  <a:solidFill>
                    <a:schemeClr val="accent1"/>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glow rad="139700">
                    <a:schemeClr val="accent3">
                      <a:satMod val="175000"/>
                      <a:alpha val="40000"/>
                    </a:schemeClr>
                  </a:glow>
                </a:effectLst>
                <a:latin typeface="Arial"/>
              </a:rPr>
              <a:t>Đặt</a:t>
            </a:r>
            <a:r>
              <a:rPr lang="en-US" sz="2800" b="1" dirty="0">
                <a:ln>
                  <a:solidFill>
                    <a:schemeClr val="accent1"/>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glow rad="139700">
                    <a:schemeClr val="accent3">
                      <a:satMod val="175000"/>
                      <a:alpha val="40000"/>
                    </a:schemeClr>
                  </a:glow>
                </a:effectLst>
                <a:latin typeface="Arial"/>
              </a:rPr>
              <a:t> </a:t>
            </a:r>
            <a:r>
              <a:rPr lang="en-US" sz="2800" b="1" dirty="0" err="1">
                <a:ln>
                  <a:solidFill>
                    <a:schemeClr val="accent1"/>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glow rad="139700">
                    <a:schemeClr val="accent3">
                      <a:satMod val="175000"/>
                      <a:alpha val="40000"/>
                    </a:schemeClr>
                  </a:glow>
                </a:effectLst>
                <a:latin typeface="Arial"/>
              </a:rPr>
              <a:t>vấn</a:t>
            </a:r>
            <a:r>
              <a:rPr lang="en-US" sz="2800" b="1" dirty="0">
                <a:ln>
                  <a:solidFill>
                    <a:schemeClr val="accent1"/>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glow rad="139700">
                    <a:schemeClr val="accent3">
                      <a:satMod val="175000"/>
                      <a:alpha val="40000"/>
                    </a:schemeClr>
                  </a:glow>
                </a:effectLst>
                <a:latin typeface="Arial"/>
              </a:rPr>
              <a:t> </a:t>
            </a:r>
            <a:r>
              <a:rPr lang="en-US" sz="2800" b="1" dirty="0" err="1">
                <a:ln>
                  <a:solidFill>
                    <a:schemeClr val="accent1"/>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glow rad="139700">
                    <a:schemeClr val="accent3">
                      <a:satMod val="175000"/>
                      <a:alpha val="40000"/>
                    </a:schemeClr>
                  </a:glow>
                </a:effectLst>
                <a:latin typeface="Arial"/>
              </a:rPr>
              <a:t>đề</a:t>
            </a:r>
            <a:r>
              <a:rPr lang="en-US" sz="2800" b="1" dirty="0">
                <a:ln>
                  <a:solidFill>
                    <a:schemeClr val="accent1"/>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glow rad="139700">
                    <a:schemeClr val="accent3">
                      <a:satMod val="175000"/>
                      <a:alpha val="40000"/>
                    </a:schemeClr>
                  </a:glow>
                </a:effectLst>
                <a:latin typeface="Arial"/>
              </a:rPr>
              <a:t> </a:t>
            </a:r>
            <a:r>
              <a:rPr lang="en-US" sz="2800" b="1" dirty="0" err="1">
                <a:ln>
                  <a:solidFill>
                    <a:schemeClr val="accent1"/>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glow rad="139700">
                    <a:schemeClr val="accent3">
                      <a:satMod val="175000"/>
                      <a:alpha val="40000"/>
                    </a:schemeClr>
                  </a:glow>
                </a:effectLst>
                <a:latin typeface="Arial"/>
              </a:rPr>
              <a:t>tính</a:t>
            </a:r>
            <a:r>
              <a:rPr lang="en-US" sz="2800" b="1" dirty="0">
                <a:ln>
                  <a:solidFill>
                    <a:schemeClr val="accent1"/>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glow rad="139700">
                    <a:schemeClr val="accent3">
                      <a:satMod val="175000"/>
                      <a:alpha val="40000"/>
                    </a:schemeClr>
                  </a:glow>
                </a:effectLst>
                <a:latin typeface="Arial"/>
              </a:rPr>
              <a:t> </a:t>
            </a:r>
            <a:r>
              <a:rPr lang="en-US" sz="2800" b="1" dirty="0" err="1">
                <a:ln>
                  <a:solidFill>
                    <a:schemeClr val="accent1"/>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glow rad="139700">
                    <a:schemeClr val="accent3">
                      <a:satMod val="175000"/>
                      <a:alpha val="40000"/>
                    </a:schemeClr>
                  </a:glow>
                </a:effectLst>
                <a:latin typeface="Arial"/>
              </a:rPr>
              <a:t>cấp</a:t>
            </a:r>
            <a:r>
              <a:rPr lang="en-US" sz="2800" b="1" dirty="0">
                <a:ln>
                  <a:solidFill>
                    <a:schemeClr val="accent1"/>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glow rad="139700">
                    <a:schemeClr val="accent3">
                      <a:satMod val="175000"/>
                      <a:alpha val="40000"/>
                    </a:schemeClr>
                  </a:glow>
                </a:effectLst>
                <a:latin typeface="Arial"/>
              </a:rPr>
              <a:t> </a:t>
            </a:r>
            <a:r>
              <a:rPr lang="en-US" sz="2800" b="1" dirty="0" err="1">
                <a:ln>
                  <a:solidFill>
                    <a:schemeClr val="accent1"/>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glow rad="139700">
                    <a:schemeClr val="accent3">
                      <a:satMod val="175000"/>
                      <a:alpha val="40000"/>
                    </a:schemeClr>
                  </a:glow>
                </a:effectLst>
                <a:latin typeface="Arial"/>
              </a:rPr>
              <a:t>thiết</a:t>
            </a:r>
            <a:endParaRPr sz="2800" b="1" dirty="0">
              <a:ln>
                <a:solidFill>
                  <a:schemeClr val="accent1"/>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glow rad="139700">
                  <a:schemeClr val="accent3">
                    <a:satMod val="175000"/>
                    <a:alpha val="40000"/>
                  </a:schemeClr>
                </a:glow>
              </a:effectLst>
              <a:latin typeface="Arial"/>
            </a:endParaRPr>
          </a:p>
        </p:txBody>
      </p:sp>
    </p:spTree>
    <p:extLst>
      <p:ext uri="{BB962C8B-B14F-4D97-AF65-F5344CB8AC3E}">
        <p14:creationId xmlns:p14="http://schemas.microsoft.com/office/powerpoint/2010/main" val="40451001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49EE0-4A4A-2126-A703-B43C8088C647}"/>
            </a:ext>
          </a:extLst>
        </p:cNvPr>
        <p:cNvGrpSpPr/>
        <p:nvPr/>
      </p:nvGrpSpPr>
      <p:grpSpPr>
        <a:xfrm>
          <a:off x="0" y="0"/>
          <a:ext cx="0" cy="0"/>
          <a:chOff x="0" y="0"/>
          <a:chExt cx="0" cy="0"/>
        </a:xfrm>
      </p:grpSpPr>
      <p:pic>
        <p:nvPicPr>
          <p:cNvPr id="2" name="Picture 1" descr="2.png">
            <a:extLst>
              <a:ext uri="{FF2B5EF4-FFF2-40B4-BE49-F238E27FC236}">
                <a16:creationId xmlns:a16="http://schemas.microsoft.com/office/drawing/2014/main" id="{41F2F218-5D69-A629-FE6B-A44A9EB57889}"/>
              </a:ext>
            </a:extLst>
          </p:cNvPr>
          <p:cNvPicPr>
            <a:picLocks noChangeAspect="1"/>
          </p:cNvPicPr>
          <p:nvPr/>
        </p:nvPicPr>
        <p:blipFill>
          <a:blip r:embed="rId2"/>
          <a:stretch>
            <a:fillRect/>
          </a:stretch>
        </p:blipFill>
        <p:spPr>
          <a:xfrm>
            <a:off x="0" y="0"/>
            <a:ext cx="12191999" cy="6858000"/>
          </a:xfrm>
          <a:prstGeom prst="rect">
            <a:avLst/>
          </a:prstGeom>
        </p:spPr>
      </p:pic>
      <p:sp>
        <p:nvSpPr>
          <p:cNvPr id="24" name="Rectangle 23">
            <a:extLst>
              <a:ext uri="{FF2B5EF4-FFF2-40B4-BE49-F238E27FC236}">
                <a16:creationId xmlns:a16="http://schemas.microsoft.com/office/drawing/2014/main" id="{AF90BC36-3713-7024-0C9B-00E05592620C}"/>
              </a:ext>
            </a:extLst>
          </p:cNvPr>
          <p:cNvSpPr/>
          <p:nvPr/>
        </p:nvSpPr>
        <p:spPr>
          <a:xfrm>
            <a:off x="668594" y="462116"/>
            <a:ext cx="7659329" cy="5761703"/>
          </a:xfrm>
          <a:prstGeom prst="rect">
            <a:avLst/>
          </a:prstGeom>
          <a:gradFill>
            <a:gsLst>
              <a:gs pos="100000">
                <a:srgbClr val="060F1E"/>
              </a:gs>
              <a:gs pos="100000">
                <a:schemeClr val="accent1">
                  <a:tint val="50000"/>
                  <a:shade val="100000"/>
                  <a:satMod val="350000"/>
                </a:schemeClr>
              </a:gs>
            </a:gsLst>
          </a:gradFill>
          <a:ln>
            <a:solidFill>
              <a:schemeClr val="accent1">
                <a:shade val="95000"/>
                <a:satMod val="105000"/>
              </a:schemeClr>
            </a:solidFill>
          </a:ln>
          <a:effectLst>
            <a:outerShdw blurRad="40000" dist="23000" dir="5400000" rotWithShape="0">
              <a:srgbClr val="000000">
                <a:alpha val="35000"/>
              </a:srgbClr>
            </a:outerShdw>
            <a:reflection stA="45000" endPos="65000" dist="50800" dir="5400000" sy="-100000" algn="bl" rotWithShape="0"/>
          </a:effectLst>
        </p:spPr>
        <p:style>
          <a:lnRef idx="1">
            <a:schemeClr val="accent1"/>
          </a:lnRef>
          <a:fillRef idx="3">
            <a:schemeClr val="accent1"/>
          </a:fillRef>
          <a:effectRef idx="2">
            <a:schemeClr val="accent1"/>
          </a:effectRef>
          <a:fontRef idx="minor">
            <a:schemeClr val="lt1"/>
          </a:fontRef>
        </p:style>
        <p:txBody>
          <a:bodyPr rtlCol="0" anchor="ctr"/>
          <a:lstStyle/>
          <a:p>
            <a:r>
              <a:rPr lang="en-US" b="1"/>
              <a:t>Phân tích tĩnh/động tiêu tốn nhiều tài nguyên</a:t>
            </a:r>
            <a:endParaRPr lang="en-US"/>
          </a:p>
          <a:p>
            <a:r>
              <a:rPr lang="en-US"/>
              <a:t>Phương pháp truyền thống như phân tích tĩnh và động yêu cầu lượng lớn tài nguyên hệ thống, dễ phát sinh cảnh báo giả gây mất thời gian và công sức xử lý.</a:t>
            </a:r>
          </a:p>
        </p:txBody>
      </p:sp>
    </p:spTree>
    <p:extLst>
      <p:ext uri="{BB962C8B-B14F-4D97-AF65-F5344CB8AC3E}">
        <p14:creationId xmlns:p14="http://schemas.microsoft.com/office/powerpoint/2010/main" val="11956982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115</TotalTime>
  <Words>547</Words>
  <Application>Microsoft Office PowerPoint</Application>
  <PresentationFormat>Widescreen</PresentationFormat>
  <Paragraphs>53</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win 10</cp:lastModifiedBy>
  <cp:revision>3</cp:revision>
  <dcterms:created xsi:type="dcterms:W3CDTF">2013-01-27T09:14:16Z</dcterms:created>
  <dcterms:modified xsi:type="dcterms:W3CDTF">2026-08-28T10:59:13Z</dcterms:modified>
  <cp:category/>
</cp:coreProperties>
</file>