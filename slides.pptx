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088"/>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3714303" y="4412753"/>
            <a:ext cx="4763244" cy="1343025"/>
          </a:xfrm>
          <a:prstGeom prst="rect">
            <a:avLst/>
          </a:prstGeom>
        </p:spPr>
      </p:pic>
      <p:sp>
        <p:nvSpPr>
          <p:cNvPr id="3" name="TextBox 2"/>
          <p:cNvSpPr txBox="1"/>
          <p:nvPr/>
        </p:nvSpPr>
        <p:spPr>
          <a:xfrm>
            <a:off x="1030366" y="1102221"/>
            <a:ext cx="10131266" cy="365670"/>
          </a:xfrm>
          <a:prstGeom prst="rect">
            <a:avLst/>
          </a:prstGeom>
          <a:noFill/>
        </p:spPr>
        <p:txBody>
          <a:bodyPr wrap="square" lIns="0" rIns="0" tIns="0" bIns="0" anchor="t">
            <a:spAutoFit/>
          </a:bodyPr>
          <a:lstStyle/>
          <a:p>
            <a:pPr algn="ctr">
              <a:lnSpc>
                <a:spcPts val="2879"/>
              </a:lnSpc>
            </a:pPr>
            <a:r>
              <a:rPr b="1" sz="2400" i="0" u="none">
                <a:solidFill>
                  <a:srgbClr val="11CAA0"/>
                </a:solidFill>
                <a:latin typeface="Merriweather"/>
              </a:rPr>
              <a:t>BẢO MẬT HỆ THỐNG THÔNG TIN HIỆN ĐẠI</a:t>
            </a:r>
          </a:p>
        </p:txBody>
      </p:sp>
      <p:sp>
        <p:nvSpPr>
          <p:cNvPr id="4" name="TextBox 3"/>
          <p:cNvSpPr txBox="1"/>
          <p:nvPr/>
        </p:nvSpPr>
        <p:spPr>
          <a:xfrm>
            <a:off x="1030366" y="1658391"/>
            <a:ext cx="10131266" cy="1279921"/>
          </a:xfrm>
          <a:prstGeom prst="rect">
            <a:avLst/>
          </a:prstGeom>
          <a:noFill/>
        </p:spPr>
        <p:txBody>
          <a:bodyPr wrap="square" lIns="0" rIns="0" tIns="0" bIns="0" anchor="t">
            <a:spAutoFit/>
          </a:bodyPr>
          <a:lstStyle/>
          <a:p>
            <a:pPr algn="ctr">
              <a:lnSpc>
                <a:spcPts val="5040"/>
              </a:lnSpc>
            </a:pPr>
            <a:r>
              <a:rPr b="1" sz="4200" i="0" u="none">
                <a:solidFill>
                  <a:srgbClr val="F3F0DF"/>
                </a:solidFill>
                <a:latin typeface="Merriweather"/>
              </a:rPr>
              <a:t>Ứng dụng Học sâu và NLP</a:t>
            </a:r>
            <a:r>
              <a:t>
</a:t>
            </a:r>
            <a:r>
              <a:rPr b="1" sz="4200" i="0" u="none">
                <a:solidFill>
                  <a:srgbClr val="F3F0DF"/>
                </a:solidFill>
                <a:latin typeface="Merriweather"/>
              </a:rPr>
              <a:t> trong Phát hiện Lỗ hổng Phần mềm</a:t>
            </a:r>
          </a:p>
        </p:txBody>
      </p:sp>
      <p:sp>
        <p:nvSpPr>
          <p:cNvPr id="5" name="TextBox 4"/>
          <p:cNvSpPr txBox="1"/>
          <p:nvPr/>
        </p:nvSpPr>
        <p:spPr>
          <a:xfrm>
            <a:off x="1271587" y="3319313"/>
            <a:ext cx="9648825" cy="426690"/>
          </a:xfrm>
          <a:prstGeom prst="rect">
            <a:avLst/>
          </a:prstGeom>
          <a:noFill/>
        </p:spPr>
        <p:txBody>
          <a:bodyPr wrap="square" lIns="0" rIns="0" tIns="0" bIns="0" anchor="t">
            <a:spAutoFit/>
          </a:bodyPr>
          <a:lstStyle/>
          <a:p>
            <a:pPr algn="ctr">
              <a:lnSpc>
                <a:spcPts val="3359"/>
              </a:lnSpc>
            </a:pPr>
            <a:r>
              <a:rPr b="0" sz="2100" i="0" u="none">
                <a:solidFill>
                  <a:srgbClr val="F3F0DF"/>
                </a:solidFill>
                <a:latin typeface="DM Sans"/>
              </a:rPr>
              <a:t>Báo cáo Tiểu luận - Lớp 25SCT22</a:t>
            </a:r>
          </a:p>
        </p:txBody>
      </p:sp>
      <p:sp>
        <p:nvSpPr>
          <p:cNvPr id="6" name="TextBox 5"/>
          <p:cNvSpPr txBox="1"/>
          <p:nvPr/>
        </p:nvSpPr>
        <p:spPr>
          <a:xfrm>
            <a:off x="4009578" y="4708028"/>
            <a:ext cx="4172694" cy="304800"/>
          </a:xfrm>
          <a:prstGeom prst="rect">
            <a:avLst/>
          </a:prstGeom>
          <a:noFill/>
        </p:spPr>
        <p:txBody>
          <a:bodyPr wrap="square" lIns="0" rIns="0" tIns="0" bIns="0" anchor="t">
            <a:spAutoFit/>
          </a:bodyPr>
          <a:lstStyle/>
          <a:p>
            <a:pPr algn="l">
              <a:lnSpc>
                <a:spcPts val="2400"/>
              </a:lnSpc>
            </a:pPr>
            <a:r>
              <a:rPr b="1" sz="1500" i="0" u="none">
                <a:solidFill>
                  <a:srgbClr val="FFFFFF"/>
                </a:solidFill>
                <a:latin typeface="DM Sans"/>
              </a:rPr>
              <a:t>Giảng viên Hướng dẫn:</a:t>
            </a:r>
            <a:r>
              <a:rPr b="0" sz="1500" i="0" u="none">
                <a:solidFill>
                  <a:srgbClr val="FFFFFF"/>
                </a:solidFill>
                <a:latin typeface="DM Sans"/>
              </a:rPr>
              <a:t> Huỳnh Quốc Bảo</a:t>
            </a:r>
          </a:p>
        </p:txBody>
      </p:sp>
      <p:sp>
        <p:nvSpPr>
          <p:cNvPr id="7" name="TextBox 6"/>
          <p:cNvSpPr txBox="1"/>
          <p:nvPr/>
        </p:nvSpPr>
        <p:spPr>
          <a:xfrm>
            <a:off x="4009578" y="5155703"/>
            <a:ext cx="4172694" cy="304800"/>
          </a:xfrm>
          <a:prstGeom prst="rect">
            <a:avLst/>
          </a:prstGeom>
          <a:noFill/>
        </p:spPr>
        <p:txBody>
          <a:bodyPr wrap="square" lIns="0" rIns="0" tIns="0" bIns="0" anchor="t">
            <a:spAutoFit/>
          </a:bodyPr>
          <a:lstStyle/>
          <a:p>
            <a:pPr algn="l">
              <a:lnSpc>
                <a:spcPts val="2400"/>
              </a:lnSpc>
            </a:pPr>
            <a:r>
              <a:rPr b="1" sz="1500" i="0" u="none">
                <a:solidFill>
                  <a:srgbClr val="FFFFFF"/>
                </a:solidFill>
                <a:latin typeface="DM Sans"/>
              </a:rPr>
              <a:t>Học viên Thực hiện:</a:t>
            </a:r>
            <a:r>
              <a:rPr b="0" sz="1500" i="0" u="none">
                <a:solidFill>
                  <a:srgbClr val="FFFFFF"/>
                </a:solidFill>
                <a:latin typeface="DM Sans"/>
              </a:rPr>
              <a:t> Hồ Ngọc Tài (2541862030)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334125" y="1458366"/>
            <a:ext cx="5286375" cy="3333750"/>
          </a:xfrm>
          <a:prstGeom prst="rect">
            <a:avLst/>
          </a:prstGeom>
        </p:spPr>
      </p:pic>
      <p:sp>
        <p:nvSpPr>
          <p:cNvPr id="3" name="TextBox 2"/>
          <p:cNvSpPr txBox="1"/>
          <p:nvPr/>
        </p:nvSpPr>
        <p:spPr>
          <a:xfrm>
            <a:off x="571500" y="1458366"/>
            <a:ext cx="5286375" cy="731341"/>
          </a:xfrm>
          <a:prstGeom prst="rect">
            <a:avLst/>
          </a:prstGeom>
          <a:noFill/>
        </p:spPr>
        <p:txBody>
          <a:bodyPr wrap="square" lIns="0" rIns="0" tIns="0" bIns="0" anchor="t">
            <a:spAutoFit/>
          </a:bodyPr>
          <a:lstStyle/>
          <a:p>
            <a:pPr algn="l">
              <a:lnSpc>
                <a:spcPts val="2879"/>
              </a:lnSpc>
            </a:pPr>
            <a:r>
              <a:rPr b="1" sz="1800" i="0" u="none">
                <a:solidFill>
                  <a:srgbClr val="005088"/>
                </a:solidFill>
                <a:latin typeface="DM Sans"/>
              </a:rPr>
              <a:t>Phương pháp truyền thống đang bộc lộ hạn chế</a:t>
            </a:r>
          </a:p>
        </p:txBody>
      </p:sp>
      <p:sp>
        <p:nvSpPr>
          <p:cNvPr id="4" name="Rectangle 3"/>
          <p:cNvSpPr/>
          <p:nvPr/>
        </p:nvSpPr>
        <p:spPr>
          <a:xfrm>
            <a:off x="571500" y="4990058"/>
            <a:ext cx="5286375" cy="1200150"/>
          </a:xfrm>
          <a:prstGeom prst="rect">
            <a:avLst/>
          </a:prstGeom>
          <a:solidFill>
            <a:srgbClr val="E6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4375" y="5132933"/>
            <a:ext cx="5000625" cy="914400"/>
          </a:xfrm>
          <a:prstGeom prst="rect">
            <a:avLst/>
          </a:prstGeom>
          <a:noFill/>
        </p:spPr>
        <p:txBody>
          <a:bodyPr wrap="square" lIns="0" rIns="0" tIns="0" bIns="0" anchor="t">
            <a:spAutoFit/>
          </a:bodyPr>
          <a:lstStyle/>
          <a:p>
            <a:pPr algn="l">
              <a:lnSpc>
                <a:spcPts val="2400"/>
              </a:lnSpc>
            </a:pPr>
            <a:r>
              <a:rPr b="0" sz="1500" i="1" u="none">
                <a:solidFill>
                  <a:srgbClr val="333333"/>
                </a:solidFill>
                <a:latin typeface="DM Sans"/>
              </a:rPr>
              <a:t>"Cần một giải pháp tự động hóa trích xuất đặc trưng mã nguồn, phân loại rủi ro chủ động mà không phụ thuộc vào chuyên gia thủ công."</a:t>
            </a:r>
          </a:p>
        </p:txBody>
      </p:sp>
      <p:sp>
        <p:nvSpPr>
          <p:cNvPr id="6" name="Rectangle 5"/>
          <p:cNvSpPr/>
          <p:nvPr/>
        </p:nvSpPr>
        <p:spPr>
          <a:xfrm>
            <a:off x="571500" y="4990058"/>
            <a:ext cx="47625" cy="1200150"/>
          </a:xfrm>
          <a:prstGeom prst="rect">
            <a:avLst/>
          </a:prstGeom>
          <a:solidFill>
            <a:srgbClr val="11C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950" y="2380208"/>
            <a:ext cx="66675" cy="304800"/>
          </a:xfrm>
          <a:prstGeom prst="rect">
            <a:avLst/>
          </a:prstGeom>
          <a:noFill/>
        </p:spPr>
        <p:txBody>
          <a:bodyPr wrap="square" lIns="0" rIns="0" tIns="0" bIns="0" anchor="t">
            <a:spAutoFit/>
          </a:bodyPr>
          <a:lstStyle/>
          <a:p>
            <a:pPr algn="l"/>
            <a:r>
              <a:rPr b="0" sz="1500" i="0" u="none">
                <a:solidFill>
                  <a:srgbClr val="333333"/>
                </a:solidFill>
                <a:latin typeface="DM Sans"/>
              </a:rPr>
              <a:t>•</a:t>
            </a:r>
          </a:p>
        </p:txBody>
      </p:sp>
      <p:sp>
        <p:nvSpPr>
          <p:cNvPr id="8" name="TextBox 7"/>
          <p:cNvSpPr txBox="1"/>
          <p:nvPr/>
        </p:nvSpPr>
        <p:spPr>
          <a:xfrm>
            <a:off x="809625" y="2380208"/>
            <a:ext cx="5048250" cy="609600"/>
          </a:xfrm>
          <a:prstGeom prst="rect">
            <a:avLst/>
          </a:prstGeom>
          <a:noFill/>
        </p:spPr>
        <p:txBody>
          <a:bodyPr wrap="square" lIns="66675" rIns="0" tIns="0" bIns="0" anchor="t">
            <a:spAutoFit/>
          </a:bodyPr>
          <a:lstStyle/>
          <a:p>
            <a:pPr algn="l">
              <a:lnSpc>
                <a:spcPts val="2400"/>
              </a:lnSpc>
            </a:pPr>
            <a:r>
              <a:rPr b="1" sz="1500" i="0" u="none">
                <a:solidFill>
                  <a:srgbClr val="333333"/>
                </a:solidFill>
                <a:latin typeface="DM Sans"/>
              </a:rPr>
              <a:t>Phân tích tĩnh:</a:t>
            </a:r>
            <a:r>
              <a:rPr b="0" sz="1500" i="0" u="none">
                <a:solidFill>
                  <a:srgbClr val="333333"/>
                </a:solidFill>
                <a:latin typeface="DM Sans"/>
              </a:rPr>
              <a:t> Sinh ra lượng lớn cảnh báo giả, phụ thuộc luật thủ công.</a:t>
            </a:r>
          </a:p>
        </p:txBody>
      </p:sp>
      <p:sp>
        <p:nvSpPr>
          <p:cNvPr id="9" name="TextBox 8"/>
          <p:cNvSpPr txBox="1"/>
          <p:nvPr/>
        </p:nvSpPr>
        <p:spPr>
          <a:xfrm>
            <a:off x="742950" y="3132683"/>
            <a:ext cx="66675" cy="304800"/>
          </a:xfrm>
          <a:prstGeom prst="rect">
            <a:avLst/>
          </a:prstGeom>
          <a:noFill/>
        </p:spPr>
        <p:txBody>
          <a:bodyPr wrap="square" lIns="0" rIns="0" tIns="0" bIns="0" anchor="t">
            <a:spAutoFit/>
          </a:bodyPr>
          <a:lstStyle/>
          <a:p>
            <a:pPr algn="l"/>
            <a:r>
              <a:rPr b="0" sz="1500" i="0" u="none">
                <a:solidFill>
                  <a:srgbClr val="333333"/>
                </a:solidFill>
                <a:latin typeface="DM Sans"/>
              </a:rPr>
              <a:t>•</a:t>
            </a:r>
          </a:p>
        </p:txBody>
      </p:sp>
      <p:sp>
        <p:nvSpPr>
          <p:cNvPr id="10" name="TextBox 9"/>
          <p:cNvSpPr txBox="1"/>
          <p:nvPr/>
        </p:nvSpPr>
        <p:spPr>
          <a:xfrm>
            <a:off x="809625" y="3132683"/>
            <a:ext cx="5048250" cy="609600"/>
          </a:xfrm>
          <a:prstGeom prst="rect">
            <a:avLst/>
          </a:prstGeom>
          <a:noFill/>
        </p:spPr>
        <p:txBody>
          <a:bodyPr wrap="square" lIns="66675" rIns="0" tIns="0" bIns="0" anchor="t">
            <a:spAutoFit/>
          </a:bodyPr>
          <a:lstStyle/>
          <a:p>
            <a:pPr algn="l">
              <a:lnSpc>
                <a:spcPts val="2400"/>
              </a:lnSpc>
            </a:pPr>
            <a:r>
              <a:rPr b="1" sz="1500" i="0" u="none">
                <a:solidFill>
                  <a:srgbClr val="333333"/>
                </a:solidFill>
                <a:latin typeface="DM Sans"/>
              </a:rPr>
              <a:t>Phân tích động:</a:t>
            </a:r>
            <a:r>
              <a:rPr b="0" sz="1500" i="0" u="none">
                <a:solidFill>
                  <a:srgbClr val="333333"/>
                </a:solidFill>
                <a:latin typeface="DM Sans"/>
              </a:rPr>
              <a:t> Yêu cầu môi trường thực thi, tốn kém tài nguyên và thời gian.</a:t>
            </a:r>
          </a:p>
        </p:txBody>
      </p:sp>
      <p:sp>
        <p:nvSpPr>
          <p:cNvPr id="11" name="TextBox 10"/>
          <p:cNvSpPr txBox="1"/>
          <p:nvPr/>
        </p:nvSpPr>
        <p:spPr>
          <a:xfrm>
            <a:off x="742950" y="3885158"/>
            <a:ext cx="66675" cy="304800"/>
          </a:xfrm>
          <a:prstGeom prst="rect">
            <a:avLst/>
          </a:prstGeom>
          <a:noFill/>
        </p:spPr>
        <p:txBody>
          <a:bodyPr wrap="square" lIns="0" rIns="0" tIns="0" bIns="0" anchor="t">
            <a:spAutoFit/>
          </a:bodyPr>
          <a:lstStyle/>
          <a:p>
            <a:pPr algn="l"/>
            <a:r>
              <a:rPr b="0" sz="1500" i="0" u="none">
                <a:solidFill>
                  <a:srgbClr val="333333"/>
                </a:solidFill>
                <a:latin typeface="DM Sans"/>
              </a:rPr>
              <a:t>•</a:t>
            </a:r>
          </a:p>
        </p:txBody>
      </p:sp>
      <p:sp>
        <p:nvSpPr>
          <p:cNvPr id="12" name="TextBox 11"/>
          <p:cNvSpPr txBox="1"/>
          <p:nvPr/>
        </p:nvSpPr>
        <p:spPr>
          <a:xfrm>
            <a:off x="809625" y="3885158"/>
            <a:ext cx="5048250" cy="914400"/>
          </a:xfrm>
          <a:prstGeom prst="rect">
            <a:avLst/>
          </a:prstGeom>
          <a:noFill/>
        </p:spPr>
        <p:txBody>
          <a:bodyPr wrap="square" lIns="66675" rIns="0" tIns="0" bIns="0" anchor="t">
            <a:spAutoFit/>
          </a:bodyPr>
          <a:lstStyle/>
          <a:p>
            <a:pPr algn="l">
              <a:lnSpc>
                <a:spcPts val="2400"/>
              </a:lnSpc>
            </a:pPr>
            <a:r>
              <a:rPr b="1" sz="1500" i="0" u="none">
                <a:solidFill>
                  <a:srgbClr val="333333"/>
                </a:solidFill>
                <a:latin typeface="DM Sans"/>
              </a:rPr>
              <a:t>Nguy cơ hiện hữu:</a:t>
            </a:r>
            <a:r>
              <a:rPr b="0" sz="1500" i="0" u="none">
                <a:solidFill>
                  <a:srgbClr val="333333"/>
                </a:solidFill>
                <a:latin typeface="DM Sans"/>
              </a:rPr>
              <a:t> Lỗi quản lý bộ nhớ (CWE-119) và tài nguyên (CWE-399) luôn lọt top nguy hiểm nhất do MITRE đánh giá.</a:t>
            </a:r>
          </a:p>
        </p:txBody>
      </p:sp>
      <p:pic>
        <p:nvPicPr>
          <p:cNvPr id="13" name="Picture 12" descr="image.png"/>
          <p:cNvPicPr>
            <a:picLocks noChangeAspect="1"/>
          </p:cNvPicPr>
          <p:nvPr/>
        </p:nvPicPr>
        <p:blipFill>
          <a:blip r:embed="rId3"/>
          <a:stretch>
            <a:fillRect/>
          </a:stretch>
        </p:blipFill>
        <p:spPr>
          <a:xfrm>
            <a:off x="6353175" y="1477416"/>
            <a:ext cx="5248275" cy="3295650"/>
          </a:xfrm>
          <a:prstGeom prst="rect">
            <a:avLst/>
          </a:prstGeom>
        </p:spPr>
      </p:pic>
      <p:sp>
        <p:nvSpPr>
          <p:cNvPr id="14" name="TextBox 13"/>
          <p:cNvSpPr txBox="1"/>
          <p:nvPr/>
        </p:nvSpPr>
        <p:spPr>
          <a:xfrm>
            <a:off x="571500" y="524916"/>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Tính Cấp thiết của Đề tài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5088"/>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2071687"/>
            <a:ext cx="3429000" cy="3648075"/>
          </a:xfrm>
          <a:prstGeom prst="rect">
            <a:avLst/>
          </a:prstGeom>
        </p:spPr>
      </p:pic>
      <p:pic>
        <p:nvPicPr>
          <p:cNvPr id="3" name="Picture 2" descr="image.png"/>
          <p:cNvPicPr>
            <a:picLocks noChangeAspect="1"/>
          </p:cNvPicPr>
          <p:nvPr/>
        </p:nvPicPr>
        <p:blipFill>
          <a:blip r:embed="rId3"/>
          <a:stretch>
            <a:fillRect/>
          </a:stretch>
        </p:blipFill>
        <p:spPr>
          <a:xfrm>
            <a:off x="4381500" y="2071687"/>
            <a:ext cx="3429000" cy="3648075"/>
          </a:xfrm>
          <a:prstGeom prst="rect">
            <a:avLst/>
          </a:prstGeom>
        </p:spPr>
      </p:pic>
      <p:pic>
        <p:nvPicPr>
          <p:cNvPr id="4" name="Picture 3" descr="image.png"/>
          <p:cNvPicPr>
            <a:picLocks noChangeAspect="1"/>
          </p:cNvPicPr>
          <p:nvPr/>
        </p:nvPicPr>
        <p:blipFill>
          <a:blip r:embed="rId3"/>
          <a:stretch>
            <a:fillRect/>
          </a:stretch>
        </p:blipFill>
        <p:spPr>
          <a:xfrm>
            <a:off x="8191500" y="2071687"/>
            <a:ext cx="3429000" cy="3648075"/>
          </a:xfrm>
          <a:prstGeom prst="rect">
            <a:avLst/>
          </a:prstGeom>
        </p:spPr>
      </p:pic>
      <p:sp>
        <p:nvSpPr>
          <p:cNvPr id="5" name="TextBox 4"/>
          <p:cNvSpPr txBox="1"/>
          <p:nvPr/>
        </p:nvSpPr>
        <p:spPr>
          <a:xfrm>
            <a:off x="1010840" y="3157537"/>
            <a:ext cx="2550318" cy="381000"/>
          </a:xfrm>
          <a:prstGeom prst="rect">
            <a:avLst/>
          </a:prstGeom>
          <a:noFill/>
        </p:spPr>
        <p:txBody>
          <a:bodyPr wrap="square" lIns="0" rIns="0" tIns="0" bIns="0" anchor="t">
            <a:spAutoFit/>
          </a:bodyPr>
          <a:lstStyle/>
          <a:p>
            <a:pPr algn="ctr"/>
            <a:r>
              <a:rPr b="1" sz="2400" i="0" u="none">
                <a:solidFill>
                  <a:srgbClr val="11CAA0"/>
                </a:solidFill>
                <a:latin typeface="Merriweather"/>
              </a:rPr>
              <a:t>Phân loại Đa lớp</a:t>
            </a:r>
          </a:p>
        </p:txBody>
      </p:sp>
      <p:sp>
        <p:nvSpPr>
          <p:cNvPr id="6" name="TextBox 5"/>
          <p:cNvSpPr txBox="1"/>
          <p:nvPr/>
        </p:nvSpPr>
        <p:spPr>
          <a:xfrm>
            <a:off x="866775" y="3681412"/>
            <a:ext cx="2838450" cy="1524000"/>
          </a:xfrm>
          <a:prstGeom prst="rect">
            <a:avLst/>
          </a:prstGeom>
          <a:noFill/>
        </p:spPr>
        <p:txBody>
          <a:bodyPr wrap="square" lIns="0" rIns="0" tIns="0" bIns="0" anchor="t">
            <a:spAutoFit/>
          </a:bodyPr>
          <a:lstStyle/>
          <a:p>
            <a:pPr algn="ctr">
              <a:lnSpc>
                <a:spcPts val="2400"/>
              </a:lnSpc>
            </a:pPr>
            <a:r>
              <a:rPr b="0" sz="1500" i="0" u="none">
                <a:solidFill>
                  <a:srgbClr val="FFFFFF"/>
                </a:solidFill>
                <a:latin typeface="DM Sans"/>
              </a:rPr>
              <a:t>Phát triển hệ thống không chỉ báo lỗi nhị phân mà phân loại cụ thể: An toàn, Tràn bộ đệm (CWE-119), và Lỗi quản lý tài nguyên (CWE-399).</a:t>
            </a:r>
          </a:p>
        </p:txBody>
      </p:sp>
      <p:sp>
        <p:nvSpPr>
          <p:cNvPr id="7" name="TextBox 6"/>
          <p:cNvSpPr txBox="1"/>
          <p:nvPr/>
        </p:nvSpPr>
        <p:spPr>
          <a:xfrm>
            <a:off x="5070871" y="3157537"/>
            <a:ext cx="2050256" cy="381000"/>
          </a:xfrm>
          <a:prstGeom prst="rect">
            <a:avLst/>
          </a:prstGeom>
          <a:noFill/>
        </p:spPr>
        <p:txBody>
          <a:bodyPr wrap="square" lIns="0" rIns="0" tIns="0" bIns="0" anchor="t">
            <a:spAutoFit/>
          </a:bodyPr>
          <a:lstStyle/>
          <a:p>
            <a:pPr algn="ctr"/>
            <a:r>
              <a:rPr b="1" sz="2400" i="0" u="none">
                <a:solidFill>
                  <a:srgbClr val="11CAA0"/>
                </a:solidFill>
                <a:latin typeface="Merriweather"/>
              </a:rPr>
              <a:t>Kiến trúc Lai</a:t>
            </a:r>
          </a:p>
        </p:txBody>
      </p:sp>
      <p:sp>
        <p:nvSpPr>
          <p:cNvPr id="8" name="TextBox 7"/>
          <p:cNvSpPr txBox="1"/>
          <p:nvPr/>
        </p:nvSpPr>
        <p:spPr>
          <a:xfrm>
            <a:off x="4676775" y="3681412"/>
            <a:ext cx="2838450" cy="1524000"/>
          </a:xfrm>
          <a:prstGeom prst="rect">
            <a:avLst/>
          </a:prstGeom>
          <a:noFill/>
        </p:spPr>
        <p:txBody>
          <a:bodyPr wrap="square" lIns="0" rIns="0" tIns="0" bIns="0" anchor="t">
            <a:spAutoFit/>
          </a:bodyPr>
          <a:lstStyle/>
          <a:p>
            <a:pPr algn="ctr">
              <a:lnSpc>
                <a:spcPts val="2400"/>
              </a:lnSpc>
            </a:pPr>
            <a:r>
              <a:rPr b="0" sz="1500" i="0" u="none">
                <a:solidFill>
                  <a:srgbClr val="FFFFFF"/>
                </a:solidFill>
                <a:latin typeface="DM Sans"/>
              </a:rPr>
              <a:t>Kết hợp CodeBERT (mã hóa ngữ nghĩa toàn cục) và 1D-CNN (trích chọn đặc trưng cục bộ) để phân tích ngôn ngữ C/C++ hiệu quả.</a:t>
            </a:r>
          </a:p>
        </p:txBody>
      </p:sp>
      <p:sp>
        <p:nvSpPr>
          <p:cNvPr id="9" name="TextBox 8"/>
          <p:cNvSpPr txBox="1"/>
          <p:nvPr/>
        </p:nvSpPr>
        <p:spPr>
          <a:xfrm>
            <a:off x="8415813" y="3157537"/>
            <a:ext cx="2980372" cy="762000"/>
          </a:xfrm>
          <a:prstGeom prst="rect">
            <a:avLst/>
          </a:prstGeom>
          <a:noFill/>
        </p:spPr>
        <p:txBody>
          <a:bodyPr wrap="square" lIns="0" rIns="0" tIns="0" bIns="0" anchor="t">
            <a:spAutoFit/>
          </a:bodyPr>
          <a:lstStyle/>
          <a:p>
            <a:pPr algn="ctr"/>
            <a:r>
              <a:rPr b="1" sz="2400" i="0" u="none">
                <a:solidFill>
                  <a:srgbClr val="11CAA0"/>
                </a:solidFill>
                <a:latin typeface="Merriweather"/>
              </a:rPr>
              <a:t>Hệ thống End-to-End</a:t>
            </a:r>
          </a:p>
        </p:txBody>
      </p:sp>
      <p:sp>
        <p:nvSpPr>
          <p:cNvPr id="10" name="TextBox 9"/>
          <p:cNvSpPr txBox="1"/>
          <p:nvPr/>
        </p:nvSpPr>
        <p:spPr>
          <a:xfrm>
            <a:off x="8486775" y="4062412"/>
            <a:ext cx="2838450" cy="1219200"/>
          </a:xfrm>
          <a:prstGeom prst="rect">
            <a:avLst/>
          </a:prstGeom>
          <a:noFill/>
        </p:spPr>
        <p:txBody>
          <a:bodyPr wrap="square" lIns="0" rIns="0" tIns="0" bIns="0" anchor="t">
            <a:spAutoFit/>
          </a:bodyPr>
          <a:lstStyle/>
          <a:p>
            <a:pPr algn="ctr">
              <a:lnSpc>
                <a:spcPts val="2400"/>
              </a:lnSpc>
            </a:pPr>
            <a:r>
              <a:rPr b="0" sz="1500" i="0" u="none">
                <a:solidFill>
                  <a:srgbClr val="FFFFFF"/>
                </a:solidFill>
                <a:latin typeface="DM Sans"/>
              </a:rPr>
              <a:t>Xây dựng hệ thống hoàn chỉnh từ API backend (FastAPI) đến giao diện frontend, chứng minh tính ứng dụng trong thực tế.</a:t>
            </a:r>
          </a:p>
        </p:txBody>
      </p:sp>
      <p:pic>
        <p:nvPicPr>
          <p:cNvPr id="11" name="Picture 10" descr="image.png"/>
          <p:cNvPicPr>
            <a:picLocks noChangeAspect="1"/>
          </p:cNvPicPr>
          <p:nvPr/>
        </p:nvPicPr>
        <p:blipFill>
          <a:blip r:embed="rId4"/>
          <a:stretch>
            <a:fillRect/>
          </a:stretch>
        </p:blipFill>
        <p:spPr>
          <a:xfrm>
            <a:off x="2028825" y="2424112"/>
            <a:ext cx="514350" cy="457200"/>
          </a:xfrm>
          <a:prstGeom prst="rect">
            <a:avLst/>
          </a:prstGeom>
        </p:spPr>
      </p:pic>
      <p:pic>
        <p:nvPicPr>
          <p:cNvPr id="12" name="Picture 11" descr="image.png"/>
          <p:cNvPicPr>
            <a:picLocks noChangeAspect="1"/>
          </p:cNvPicPr>
          <p:nvPr/>
        </p:nvPicPr>
        <p:blipFill>
          <a:blip r:embed="rId5"/>
          <a:stretch>
            <a:fillRect/>
          </a:stretch>
        </p:blipFill>
        <p:spPr>
          <a:xfrm>
            <a:off x="5810250" y="2424112"/>
            <a:ext cx="571500" cy="457200"/>
          </a:xfrm>
          <a:prstGeom prst="rect">
            <a:avLst/>
          </a:prstGeom>
        </p:spPr>
      </p:pic>
      <p:pic>
        <p:nvPicPr>
          <p:cNvPr id="13" name="Picture 12" descr="image.png"/>
          <p:cNvPicPr>
            <a:picLocks noChangeAspect="1"/>
          </p:cNvPicPr>
          <p:nvPr/>
        </p:nvPicPr>
        <p:blipFill>
          <a:blip r:embed="rId6"/>
          <a:stretch>
            <a:fillRect/>
          </a:stretch>
        </p:blipFill>
        <p:spPr>
          <a:xfrm>
            <a:off x="9620250" y="2424112"/>
            <a:ext cx="571500" cy="457200"/>
          </a:xfrm>
          <a:prstGeom prst="rect">
            <a:avLst/>
          </a:prstGeom>
        </p:spPr>
      </p:pic>
      <p:sp>
        <p:nvSpPr>
          <p:cNvPr id="14" name="TextBox 13"/>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F3F0DF"/>
                </a:solidFill>
                <a:latin typeface="Merriweather"/>
              </a:rPr>
              <a:t>Mục tiêu Nghiên cứu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2185987"/>
            <a:ext cx="5286375" cy="3419475"/>
          </a:xfrm>
          <a:prstGeom prst="rect">
            <a:avLst/>
          </a:prstGeom>
        </p:spPr>
      </p:pic>
      <p:pic>
        <p:nvPicPr>
          <p:cNvPr id="3" name="Picture 2" descr="image.png"/>
          <p:cNvPicPr>
            <a:picLocks noChangeAspect="1"/>
          </p:cNvPicPr>
          <p:nvPr/>
        </p:nvPicPr>
        <p:blipFill>
          <a:blip r:embed="rId3"/>
          <a:stretch>
            <a:fillRect/>
          </a:stretch>
        </p:blipFill>
        <p:spPr>
          <a:xfrm>
            <a:off x="6334125" y="2185987"/>
            <a:ext cx="5286375" cy="3419475"/>
          </a:xfrm>
          <a:prstGeom prst="rect">
            <a:avLst/>
          </a:prstGeom>
        </p:spPr>
      </p:pic>
      <p:sp>
        <p:nvSpPr>
          <p:cNvPr id="4" name="TextBox 3"/>
          <p:cNvSpPr txBox="1"/>
          <p:nvPr/>
        </p:nvSpPr>
        <p:spPr>
          <a:xfrm>
            <a:off x="962025" y="2576512"/>
            <a:ext cx="4730591" cy="381000"/>
          </a:xfrm>
          <a:prstGeom prst="rect">
            <a:avLst/>
          </a:prstGeom>
          <a:noFill/>
        </p:spPr>
        <p:txBody>
          <a:bodyPr wrap="square" lIns="361950" rIns="0" tIns="0" bIns="0" anchor="t">
            <a:spAutoFit/>
          </a:bodyPr>
          <a:lstStyle/>
          <a:p>
            <a:pPr algn="l"/>
            <a:r>
              <a:rPr b="1" sz="2400" i="0" u="none">
                <a:solidFill>
                  <a:srgbClr val="005088"/>
                </a:solidFill>
                <a:latin typeface="Merriweather"/>
              </a:rPr>
              <a:t>Dữ liệu (Mini Dataset)</a:t>
            </a:r>
          </a:p>
        </p:txBody>
      </p:sp>
      <p:sp>
        <p:nvSpPr>
          <p:cNvPr id="5" name="TextBox 4"/>
          <p:cNvSpPr txBox="1"/>
          <p:nvPr/>
        </p:nvSpPr>
        <p:spPr>
          <a:xfrm>
            <a:off x="962025" y="3100387"/>
            <a:ext cx="4505325" cy="914400"/>
          </a:xfrm>
          <a:prstGeom prst="rect">
            <a:avLst/>
          </a:prstGeom>
          <a:noFill/>
        </p:spPr>
        <p:txBody>
          <a:bodyPr wrap="square" lIns="0" rIns="0" tIns="0" bIns="0" anchor="t">
            <a:spAutoFit/>
          </a:bodyPr>
          <a:lstStyle/>
          <a:p>
            <a:pPr algn="l">
              <a:lnSpc>
                <a:spcPts val="2400"/>
              </a:lnSpc>
            </a:pPr>
            <a:r>
              <a:rPr b="0" sz="1500" i="0" u="none">
                <a:solidFill>
                  <a:srgbClr val="333333"/>
                </a:solidFill>
                <a:latin typeface="DM Sans"/>
              </a:rPr>
              <a:t>Xây dựng bộ dữ liệu thu nhỏ gồm </a:t>
            </a:r>
            <a:r>
              <a:rPr b="1" sz="1500" i="0" u="none">
                <a:solidFill>
                  <a:srgbClr val="333333"/>
                </a:solidFill>
                <a:latin typeface="DM Sans"/>
              </a:rPr>
              <a:t>9.000 mẫu mã nguồn C/C++</a:t>
            </a:r>
            <a:r>
              <a:rPr b="0" sz="1500" i="0" u="none">
                <a:solidFill>
                  <a:srgbClr val="333333"/>
                </a:solidFill>
                <a:latin typeface="DM Sans"/>
              </a:rPr>
              <a:t> đã được gán nhãn thủ công và cân bằng hoàn hảo (3.000 mẫu cho mỗi lớp).</a:t>
            </a:r>
          </a:p>
        </p:txBody>
      </p:sp>
      <p:sp>
        <p:nvSpPr>
          <p:cNvPr id="6" name="TextBox 5"/>
          <p:cNvSpPr txBox="1"/>
          <p:nvPr/>
        </p:nvSpPr>
        <p:spPr>
          <a:xfrm>
            <a:off x="962025" y="4157662"/>
            <a:ext cx="4505325" cy="914400"/>
          </a:xfrm>
          <a:prstGeom prst="rect">
            <a:avLst/>
          </a:prstGeom>
          <a:noFill/>
        </p:spPr>
        <p:txBody>
          <a:bodyPr wrap="square" lIns="0" rIns="0" tIns="0" bIns="0" anchor="t">
            <a:spAutoFit/>
          </a:bodyPr>
          <a:lstStyle/>
          <a:p>
            <a:pPr algn="l">
              <a:lnSpc>
                <a:spcPts val="2400"/>
              </a:lnSpc>
            </a:pPr>
            <a:r>
              <a:rPr b="0" sz="1500" i="0" u="none">
                <a:solidFill>
                  <a:srgbClr val="333333"/>
                </a:solidFill>
                <a:latin typeface="DM Sans"/>
              </a:rPr>
              <a:t>Mã nguồn được giới hạn tối đa 512 token, tiền xử lý loại bỏ các chỉ thị không liên quan (#include, #define) để tối ưu hóa đầu vào.</a:t>
            </a:r>
          </a:p>
        </p:txBody>
      </p:sp>
      <p:sp>
        <p:nvSpPr>
          <p:cNvPr id="7" name="TextBox 6"/>
          <p:cNvSpPr txBox="1"/>
          <p:nvPr/>
        </p:nvSpPr>
        <p:spPr>
          <a:xfrm>
            <a:off x="6724650" y="2576512"/>
            <a:ext cx="4730591" cy="381000"/>
          </a:xfrm>
          <a:prstGeom prst="rect">
            <a:avLst/>
          </a:prstGeom>
          <a:noFill/>
        </p:spPr>
        <p:txBody>
          <a:bodyPr wrap="square" lIns="400050" rIns="0" tIns="0" bIns="0" anchor="t">
            <a:spAutoFit/>
          </a:bodyPr>
          <a:lstStyle/>
          <a:p>
            <a:pPr algn="l"/>
            <a:r>
              <a:rPr b="1" sz="2400" i="0" u="none">
                <a:solidFill>
                  <a:srgbClr val="005088"/>
                </a:solidFill>
                <a:latin typeface="Merriweather"/>
              </a:rPr>
              <a:t>Lỗ hổng Trọng tâm</a:t>
            </a:r>
          </a:p>
        </p:txBody>
      </p:sp>
      <p:sp>
        <p:nvSpPr>
          <p:cNvPr id="8" name="TextBox 7"/>
          <p:cNvSpPr txBox="1"/>
          <p:nvPr/>
        </p:nvSpPr>
        <p:spPr>
          <a:xfrm>
            <a:off x="6724650" y="3100387"/>
            <a:ext cx="4505325" cy="609600"/>
          </a:xfrm>
          <a:prstGeom prst="rect">
            <a:avLst/>
          </a:prstGeom>
          <a:noFill/>
        </p:spPr>
        <p:txBody>
          <a:bodyPr wrap="square" lIns="0" rIns="0" tIns="0" bIns="0" anchor="t">
            <a:spAutoFit/>
          </a:bodyPr>
          <a:lstStyle/>
          <a:p>
            <a:pPr algn="l">
              <a:lnSpc>
                <a:spcPts val="2400"/>
              </a:lnSpc>
            </a:pPr>
            <a:r>
              <a:rPr b="1" sz="1500" i="0" u="none">
                <a:solidFill>
                  <a:srgbClr val="333333"/>
                </a:solidFill>
                <a:latin typeface="DM Sans"/>
              </a:rPr>
              <a:t>CWE-119:</a:t>
            </a:r>
            <a:r>
              <a:rPr b="0" sz="1500" i="0" u="none">
                <a:solidFill>
                  <a:srgbClr val="333333"/>
                </a:solidFill>
                <a:latin typeface="DM Sans"/>
              </a:rPr>
              <a:t> Tràn bộ đệm. Truy xuất bộ nhớ ngoài phạm vi, thường gặp trong các hàm thao tác chuỗi.</a:t>
            </a:r>
          </a:p>
        </p:txBody>
      </p:sp>
      <p:sp>
        <p:nvSpPr>
          <p:cNvPr id="9" name="TextBox 8"/>
          <p:cNvSpPr txBox="1"/>
          <p:nvPr/>
        </p:nvSpPr>
        <p:spPr>
          <a:xfrm>
            <a:off x="6724650" y="3852862"/>
            <a:ext cx="4505325" cy="914400"/>
          </a:xfrm>
          <a:prstGeom prst="rect">
            <a:avLst/>
          </a:prstGeom>
          <a:noFill/>
        </p:spPr>
        <p:txBody>
          <a:bodyPr wrap="square" lIns="0" rIns="0" tIns="0" bIns="0" anchor="t">
            <a:spAutoFit/>
          </a:bodyPr>
          <a:lstStyle/>
          <a:p>
            <a:pPr algn="l">
              <a:lnSpc>
                <a:spcPts val="2400"/>
              </a:lnSpc>
            </a:pPr>
            <a:r>
              <a:rPr b="1" sz="1500" i="0" u="none">
                <a:solidFill>
                  <a:srgbClr val="333333"/>
                </a:solidFill>
                <a:latin typeface="DM Sans"/>
              </a:rPr>
              <a:t>CWE-399:</a:t>
            </a:r>
            <a:r>
              <a:rPr b="0" sz="1500" i="0" u="none">
                <a:solidFill>
                  <a:srgbClr val="333333"/>
                </a:solidFill>
                <a:latin typeface="DM Sans"/>
              </a:rPr>
              <a:t> Lỗi quản lý tài nguyên. Không giải phóng tài nguyên hoặc giải phóng nhiều lần (double free) gây rò rỉ bộ nhớ.</a:t>
            </a:r>
          </a:p>
        </p:txBody>
      </p:sp>
      <p:pic>
        <p:nvPicPr>
          <p:cNvPr id="10" name="Picture 9" descr="image.png"/>
          <p:cNvPicPr>
            <a:picLocks noChangeAspect="1"/>
          </p:cNvPicPr>
          <p:nvPr/>
        </p:nvPicPr>
        <p:blipFill>
          <a:blip r:embed="rId4"/>
          <a:stretch>
            <a:fillRect/>
          </a:stretch>
        </p:blipFill>
        <p:spPr>
          <a:xfrm>
            <a:off x="962025" y="2605087"/>
            <a:ext cx="266700" cy="304800"/>
          </a:xfrm>
          <a:prstGeom prst="rect">
            <a:avLst/>
          </a:prstGeom>
        </p:spPr>
      </p:pic>
      <p:pic>
        <p:nvPicPr>
          <p:cNvPr id="11" name="Picture 10" descr="image.png"/>
          <p:cNvPicPr>
            <a:picLocks noChangeAspect="1"/>
          </p:cNvPicPr>
          <p:nvPr/>
        </p:nvPicPr>
        <p:blipFill>
          <a:blip r:embed="rId5"/>
          <a:stretch>
            <a:fillRect/>
          </a:stretch>
        </p:blipFill>
        <p:spPr>
          <a:xfrm>
            <a:off x="6724650" y="2605087"/>
            <a:ext cx="304800" cy="304800"/>
          </a:xfrm>
          <a:prstGeom prst="rect">
            <a:avLst/>
          </a:prstGeom>
        </p:spPr>
      </p:pic>
      <p:sp>
        <p:nvSpPr>
          <p:cNvPr id="12" name="TextBox 11"/>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Đối tượng &amp; Phạm vi Nghiên cứu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5088"/>
        </a:solidFill>
        <a:effectLst/>
      </p:bgPr>
    </p:bg>
    <p:spTree>
      <p:nvGrpSpPr>
        <p:cNvPr id="1" name=""/>
        <p:cNvGrpSpPr/>
        <p:nvPr/>
      </p:nvGrpSpPr>
      <p:grpSpPr/>
      <p:sp>
        <p:nvSpPr>
          <p:cNvPr id="2" name="Rectangle 1"/>
          <p:cNvSpPr/>
          <p:nvPr/>
        </p:nvSpPr>
        <p:spPr>
          <a:xfrm>
            <a:off x="5381625" y="2698402"/>
            <a:ext cx="1428750" cy="47625"/>
          </a:xfrm>
          <a:prstGeom prst="rect">
            <a:avLst/>
          </a:prstGeom>
          <a:solidFill>
            <a:srgbClr val="11C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45406" y="3031777"/>
            <a:ext cx="9501187" cy="714375"/>
          </a:xfrm>
          <a:prstGeom prst="rect">
            <a:avLst/>
          </a:prstGeom>
          <a:noFill/>
        </p:spPr>
        <p:txBody>
          <a:bodyPr wrap="square" lIns="0" rIns="0" tIns="0" bIns="0" anchor="t">
            <a:spAutoFit/>
          </a:bodyPr>
          <a:lstStyle/>
          <a:p>
            <a:pPr algn="ctr"/>
            <a:r>
              <a:rPr b="1" sz="4500" i="0" u="none">
                <a:solidFill>
                  <a:srgbClr val="F3F0DF"/>
                </a:solidFill>
                <a:latin typeface="Merriweather"/>
              </a:rPr>
              <a:t>Kiến trúc &amp; Triển khai Hệ thống</a:t>
            </a:r>
          </a:p>
        </p:txBody>
      </p:sp>
      <p:sp>
        <p:nvSpPr>
          <p:cNvPr id="4" name="TextBox 3"/>
          <p:cNvSpPr txBox="1"/>
          <p:nvPr/>
        </p:nvSpPr>
        <p:spPr>
          <a:xfrm>
            <a:off x="3866703" y="3936652"/>
            <a:ext cx="4458444" cy="365670"/>
          </a:xfrm>
          <a:prstGeom prst="rect">
            <a:avLst/>
          </a:prstGeom>
          <a:noFill/>
        </p:spPr>
        <p:txBody>
          <a:bodyPr wrap="square" lIns="0" rIns="0" tIns="0" bIns="0" anchor="t">
            <a:spAutoFit/>
          </a:bodyPr>
          <a:lstStyle/>
          <a:p>
            <a:pPr algn="ctr">
              <a:lnSpc>
                <a:spcPts val="2879"/>
              </a:lnSpc>
            </a:pPr>
            <a:r>
              <a:rPr b="0" sz="1800" i="0" u="none">
                <a:solidFill>
                  <a:srgbClr val="11CAA0"/>
                </a:solidFill>
                <a:latin typeface="DM Sans"/>
              </a:rPr>
              <a:t>Từ cơ sở lý thuyết đến ứng dụng thực tiễn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1828800"/>
            <a:ext cx="3429000" cy="2143125"/>
          </a:xfrm>
          <a:prstGeom prst="rect">
            <a:avLst/>
          </a:prstGeom>
        </p:spPr>
      </p:pic>
      <p:pic>
        <p:nvPicPr>
          <p:cNvPr id="3" name="Picture 2" descr="image.png"/>
          <p:cNvPicPr>
            <a:picLocks noChangeAspect="1"/>
          </p:cNvPicPr>
          <p:nvPr/>
        </p:nvPicPr>
        <p:blipFill>
          <a:blip r:embed="rId3"/>
          <a:stretch>
            <a:fillRect/>
          </a:stretch>
        </p:blipFill>
        <p:spPr>
          <a:xfrm>
            <a:off x="4381500" y="1828800"/>
            <a:ext cx="3429000" cy="2143125"/>
          </a:xfrm>
          <a:prstGeom prst="rect">
            <a:avLst/>
          </a:prstGeom>
        </p:spPr>
      </p:pic>
      <p:pic>
        <p:nvPicPr>
          <p:cNvPr id="4" name="Picture 3" descr="image.png"/>
          <p:cNvPicPr>
            <a:picLocks noChangeAspect="1"/>
          </p:cNvPicPr>
          <p:nvPr/>
        </p:nvPicPr>
        <p:blipFill>
          <a:blip r:embed="rId3"/>
          <a:stretch>
            <a:fillRect/>
          </a:stretch>
        </p:blipFill>
        <p:spPr>
          <a:xfrm>
            <a:off x="8191500" y="1828800"/>
            <a:ext cx="3429000" cy="2143125"/>
          </a:xfrm>
          <a:prstGeom prst="rect">
            <a:avLst/>
          </a:prstGeom>
        </p:spPr>
      </p:pic>
      <p:sp>
        <p:nvSpPr>
          <p:cNvPr id="5" name="TextBox 4"/>
          <p:cNvSpPr txBox="1"/>
          <p:nvPr/>
        </p:nvSpPr>
        <p:spPr>
          <a:xfrm>
            <a:off x="485775" y="4162425"/>
            <a:ext cx="3600450" cy="295275"/>
          </a:xfrm>
          <a:prstGeom prst="rect">
            <a:avLst/>
          </a:prstGeom>
          <a:noFill/>
        </p:spPr>
        <p:txBody>
          <a:bodyPr wrap="square" lIns="0" rIns="0" tIns="0" bIns="0" anchor="t">
            <a:spAutoFit/>
          </a:bodyPr>
          <a:lstStyle/>
          <a:p>
            <a:pPr algn="ctr"/>
            <a:r>
              <a:rPr b="1" sz="1800" i="0" u="none">
                <a:solidFill>
                  <a:srgbClr val="005088"/>
                </a:solidFill>
                <a:latin typeface="Merriweather"/>
              </a:rPr>
              <a:t>1. Khối CodeBERT</a:t>
            </a:r>
          </a:p>
        </p:txBody>
      </p:sp>
      <p:sp>
        <p:nvSpPr>
          <p:cNvPr id="6" name="TextBox 5"/>
          <p:cNvSpPr txBox="1"/>
          <p:nvPr/>
        </p:nvSpPr>
        <p:spPr>
          <a:xfrm>
            <a:off x="571500" y="4600575"/>
            <a:ext cx="3429000" cy="1219200"/>
          </a:xfrm>
          <a:prstGeom prst="rect">
            <a:avLst/>
          </a:prstGeom>
          <a:noFill/>
        </p:spPr>
        <p:txBody>
          <a:bodyPr wrap="square" lIns="0" rIns="0" tIns="0" bIns="0" anchor="t">
            <a:spAutoFit/>
          </a:bodyPr>
          <a:lstStyle/>
          <a:p>
            <a:pPr algn="ctr">
              <a:lnSpc>
                <a:spcPts val="2400"/>
              </a:lnSpc>
            </a:pPr>
            <a:r>
              <a:rPr b="0" sz="1500" i="0" u="none">
                <a:solidFill>
                  <a:srgbClr val="333333"/>
                </a:solidFill>
                <a:latin typeface="DM Sans"/>
              </a:rPr>
              <a:t>Đóng vai trò như bộ mã hóa ngữ nghĩa toàn cục, tận dụng cơ chế attention đa tầng để hiểu ngữ cảnh của ngôn ngữ C/C++.</a:t>
            </a:r>
          </a:p>
        </p:txBody>
      </p:sp>
      <p:sp>
        <p:nvSpPr>
          <p:cNvPr id="7" name="TextBox 6"/>
          <p:cNvSpPr txBox="1"/>
          <p:nvPr/>
        </p:nvSpPr>
        <p:spPr>
          <a:xfrm>
            <a:off x="4295775" y="4162425"/>
            <a:ext cx="3600450" cy="295275"/>
          </a:xfrm>
          <a:prstGeom prst="rect">
            <a:avLst/>
          </a:prstGeom>
          <a:noFill/>
        </p:spPr>
        <p:txBody>
          <a:bodyPr wrap="square" lIns="0" rIns="0" tIns="0" bIns="0" anchor="t">
            <a:spAutoFit/>
          </a:bodyPr>
          <a:lstStyle/>
          <a:p>
            <a:pPr algn="ctr"/>
            <a:r>
              <a:rPr b="1" sz="1800" i="0" u="none">
                <a:solidFill>
                  <a:srgbClr val="005088"/>
                </a:solidFill>
                <a:latin typeface="Merriweather"/>
              </a:rPr>
              <a:t>2. Khối 1D-CNN</a:t>
            </a:r>
          </a:p>
        </p:txBody>
      </p:sp>
      <p:sp>
        <p:nvSpPr>
          <p:cNvPr id="8" name="TextBox 7"/>
          <p:cNvSpPr txBox="1"/>
          <p:nvPr/>
        </p:nvSpPr>
        <p:spPr>
          <a:xfrm>
            <a:off x="4381500" y="4600575"/>
            <a:ext cx="3429000" cy="914400"/>
          </a:xfrm>
          <a:prstGeom prst="rect">
            <a:avLst/>
          </a:prstGeom>
          <a:noFill/>
        </p:spPr>
        <p:txBody>
          <a:bodyPr wrap="square" lIns="0" rIns="0" tIns="0" bIns="0" anchor="t">
            <a:spAutoFit/>
          </a:bodyPr>
          <a:lstStyle/>
          <a:p>
            <a:pPr algn="ctr">
              <a:lnSpc>
                <a:spcPts val="2400"/>
              </a:lnSpc>
            </a:pPr>
            <a:r>
              <a:rPr b="0" sz="1500" i="0" u="none">
                <a:solidFill>
                  <a:srgbClr val="333333"/>
                </a:solidFill>
                <a:latin typeface="DM Sans"/>
              </a:rPr>
              <a:t>Hoạt động như bộ trích xuất đặc trưng cục bộ, nắm bắt cấu trúc tuần tự, quy luật lặp lại của phép gán và vòng lặp.</a:t>
            </a:r>
          </a:p>
        </p:txBody>
      </p:sp>
      <p:sp>
        <p:nvSpPr>
          <p:cNvPr id="9" name="TextBox 8"/>
          <p:cNvSpPr txBox="1"/>
          <p:nvPr/>
        </p:nvSpPr>
        <p:spPr>
          <a:xfrm>
            <a:off x="8105775" y="4162425"/>
            <a:ext cx="3600450" cy="295275"/>
          </a:xfrm>
          <a:prstGeom prst="rect">
            <a:avLst/>
          </a:prstGeom>
          <a:noFill/>
        </p:spPr>
        <p:txBody>
          <a:bodyPr wrap="square" lIns="0" rIns="0" tIns="0" bIns="0" anchor="t">
            <a:spAutoFit/>
          </a:bodyPr>
          <a:lstStyle/>
          <a:p>
            <a:pPr algn="ctr"/>
            <a:r>
              <a:rPr b="1" sz="1800" i="0" u="none">
                <a:solidFill>
                  <a:srgbClr val="005088"/>
                </a:solidFill>
                <a:latin typeface="Merriweather"/>
              </a:rPr>
              <a:t>3. Phân loại Đa lớp</a:t>
            </a:r>
          </a:p>
        </p:txBody>
      </p:sp>
      <p:sp>
        <p:nvSpPr>
          <p:cNvPr id="10" name="TextBox 9"/>
          <p:cNvSpPr txBox="1"/>
          <p:nvPr/>
        </p:nvSpPr>
        <p:spPr>
          <a:xfrm>
            <a:off x="8191500" y="4600575"/>
            <a:ext cx="3429000" cy="1219200"/>
          </a:xfrm>
          <a:prstGeom prst="rect">
            <a:avLst/>
          </a:prstGeom>
          <a:noFill/>
        </p:spPr>
        <p:txBody>
          <a:bodyPr wrap="square" lIns="0" rIns="0" tIns="0" bIns="0" anchor="t">
            <a:spAutoFit/>
          </a:bodyPr>
          <a:lstStyle/>
          <a:p>
            <a:pPr algn="ctr">
              <a:lnSpc>
                <a:spcPts val="2400"/>
              </a:lnSpc>
            </a:pPr>
            <a:r>
              <a:rPr b="0" sz="1500" i="0" u="none">
                <a:solidFill>
                  <a:srgbClr val="333333"/>
                </a:solidFill>
                <a:latin typeface="DM Sans"/>
              </a:rPr>
              <a:t>Lớp Fully Connected tiếp nhận vector đặc trưng hợp nhất để phân loại mã nguồn vào 3 nhóm (Safe, CWE-119, CWE-399).</a:t>
            </a:r>
          </a:p>
        </p:txBody>
      </p:sp>
      <p:pic>
        <p:nvPicPr>
          <p:cNvPr id="11" name="Picture 10" descr="image.png"/>
          <p:cNvPicPr>
            <a:picLocks noChangeAspect="1"/>
          </p:cNvPicPr>
          <p:nvPr/>
        </p:nvPicPr>
        <p:blipFill>
          <a:blip r:embed="rId4"/>
          <a:stretch>
            <a:fillRect/>
          </a:stretch>
        </p:blipFill>
        <p:spPr>
          <a:xfrm>
            <a:off x="581025" y="1838325"/>
            <a:ext cx="3409950" cy="2124075"/>
          </a:xfrm>
          <a:prstGeom prst="rect">
            <a:avLst/>
          </a:prstGeom>
        </p:spPr>
      </p:pic>
      <p:pic>
        <p:nvPicPr>
          <p:cNvPr id="12" name="Picture 11" descr="image.png"/>
          <p:cNvPicPr>
            <a:picLocks noChangeAspect="1"/>
          </p:cNvPicPr>
          <p:nvPr/>
        </p:nvPicPr>
        <p:blipFill>
          <a:blip r:embed="rId5"/>
          <a:stretch>
            <a:fillRect/>
          </a:stretch>
        </p:blipFill>
        <p:spPr>
          <a:xfrm>
            <a:off x="4391025" y="1838325"/>
            <a:ext cx="3409950" cy="2124075"/>
          </a:xfrm>
          <a:prstGeom prst="rect">
            <a:avLst/>
          </a:prstGeom>
        </p:spPr>
      </p:pic>
      <p:pic>
        <p:nvPicPr>
          <p:cNvPr id="13" name="Picture 12" descr="image.png"/>
          <p:cNvPicPr>
            <a:picLocks noChangeAspect="1"/>
          </p:cNvPicPr>
          <p:nvPr/>
        </p:nvPicPr>
        <p:blipFill>
          <a:blip r:embed="rId6"/>
          <a:stretch>
            <a:fillRect/>
          </a:stretch>
        </p:blipFill>
        <p:spPr>
          <a:xfrm>
            <a:off x="8201025" y="1838325"/>
            <a:ext cx="3409950" cy="2124075"/>
          </a:xfrm>
          <a:prstGeom prst="rect">
            <a:avLst/>
          </a:prstGeom>
        </p:spPr>
      </p:pic>
      <p:sp>
        <p:nvSpPr>
          <p:cNvPr id="14" name="TextBox 13"/>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Đề xuất Mô hình Học sâu Lai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sp>
        <p:nvSpPr>
          <p:cNvPr id="2" name="TextBox 1"/>
          <p:cNvSpPr txBox="1"/>
          <p:nvPr/>
        </p:nvSpPr>
        <p:spPr>
          <a:xfrm>
            <a:off x="2286000" y="2030313"/>
            <a:ext cx="8096250" cy="1005482"/>
          </a:xfrm>
          <a:prstGeom prst="rect">
            <a:avLst/>
          </a:prstGeom>
          <a:noFill/>
        </p:spPr>
        <p:txBody>
          <a:bodyPr wrap="square" lIns="0" rIns="0" tIns="0" bIns="0" anchor="t">
            <a:spAutoFit/>
          </a:bodyPr>
          <a:lstStyle/>
          <a:p>
            <a:pPr algn="l">
              <a:lnSpc>
                <a:spcPts val="2640"/>
              </a:lnSpc>
            </a:pPr>
            <a:r>
              <a:rPr b="1" sz="1650" i="0" u="none">
                <a:solidFill>
                  <a:srgbClr val="005088"/>
                </a:solidFill>
                <a:latin typeface="DM Sans"/>
              </a:rPr>
              <a:t>Backend (FastAPI):</a:t>
            </a:r>
            <a:r>
              <a:rPr b="0" sz="1650" i="0" u="none">
                <a:solidFill>
                  <a:srgbClr val="333333"/>
                </a:solidFill>
                <a:latin typeface="DM Sans"/>
              </a:rPr>
              <a:t> Xây dựng API dịch vụ nhẹ, tốc độ cao. Quản lý trạng thái, tối ưu hiệu năng xử lý yêu cầu phân tích mã nguồn và trả về kết quả dự đoán với mức độ tin cậy.</a:t>
            </a:r>
          </a:p>
        </p:txBody>
      </p:sp>
      <p:sp>
        <p:nvSpPr>
          <p:cNvPr id="3" name="TextBox 2"/>
          <p:cNvSpPr txBox="1"/>
          <p:nvPr/>
        </p:nvSpPr>
        <p:spPr>
          <a:xfrm>
            <a:off x="2286000" y="3273921"/>
            <a:ext cx="8096250" cy="1005482"/>
          </a:xfrm>
          <a:prstGeom prst="rect">
            <a:avLst/>
          </a:prstGeom>
          <a:noFill/>
        </p:spPr>
        <p:txBody>
          <a:bodyPr wrap="square" lIns="0" rIns="0" tIns="0" bIns="0" anchor="t">
            <a:spAutoFit/>
          </a:bodyPr>
          <a:lstStyle/>
          <a:p>
            <a:pPr algn="l">
              <a:lnSpc>
                <a:spcPts val="2640"/>
              </a:lnSpc>
            </a:pPr>
            <a:r>
              <a:rPr b="1" sz="1650" i="0" u="none">
                <a:solidFill>
                  <a:srgbClr val="005088"/>
                </a:solidFill>
                <a:latin typeface="DM Sans"/>
              </a:rPr>
              <a:t>Tối ưu Tài nguyên (PyTorch):</a:t>
            </a:r>
            <a:r>
              <a:rPr b="0" sz="1650" i="0" u="none">
                <a:solidFill>
                  <a:srgbClr val="333333"/>
                </a:solidFill>
                <a:latin typeface="DM Sans"/>
              </a:rPr>
              <a:t> Hệ thống được thiết kế để có khả năng suy luận (inference) trên phần cứng phổ thông (CPU/GPU tầm thấp), giải quyết bài toán "trade-off" giữa độ trễ và độ chính xác.</a:t>
            </a:r>
          </a:p>
        </p:txBody>
      </p:sp>
      <p:sp>
        <p:nvSpPr>
          <p:cNvPr id="4" name="TextBox 3"/>
          <p:cNvSpPr txBox="1"/>
          <p:nvPr/>
        </p:nvSpPr>
        <p:spPr>
          <a:xfrm>
            <a:off x="2286000" y="4517528"/>
            <a:ext cx="8096250" cy="1005482"/>
          </a:xfrm>
          <a:prstGeom prst="rect">
            <a:avLst/>
          </a:prstGeom>
          <a:noFill/>
        </p:spPr>
        <p:txBody>
          <a:bodyPr wrap="square" lIns="0" rIns="0" tIns="0" bIns="0" anchor="t">
            <a:spAutoFit/>
          </a:bodyPr>
          <a:lstStyle/>
          <a:p>
            <a:pPr algn="l">
              <a:lnSpc>
                <a:spcPts val="2640"/>
              </a:lnSpc>
            </a:pPr>
            <a:r>
              <a:rPr b="1" sz="1650" i="0" u="none">
                <a:solidFill>
                  <a:srgbClr val="005088"/>
                </a:solidFill>
                <a:latin typeface="DM Sans"/>
              </a:rPr>
              <a:t>Giao diện Người dùng (TailwindCSS &amp; JS):</a:t>
            </a:r>
            <a:r>
              <a:rPr b="0" sz="1650" i="0" u="none">
                <a:solidFill>
                  <a:srgbClr val="333333"/>
                </a:solidFill>
                <a:latin typeface="DM Sans"/>
              </a:rPr>
              <a:t> Cung cấp UI thời gian thực trực quan, cho phép người dùng nhập trực tiếp hoặc tải lên tệp .c/.cpp để nhận phản hồi phân tích ngay lập tức.</a:t>
            </a:r>
          </a:p>
        </p:txBody>
      </p:sp>
      <p:pic>
        <p:nvPicPr>
          <p:cNvPr id="5" name="Picture 4" descr="image.png"/>
          <p:cNvPicPr>
            <a:picLocks noChangeAspect="1"/>
          </p:cNvPicPr>
          <p:nvPr/>
        </p:nvPicPr>
        <p:blipFill>
          <a:blip r:embed="rId2"/>
          <a:stretch>
            <a:fillRect/>
          </a:stretch>
        </p:blipFill>
        <p:spPr>
          <a:xfrm>
            <a:off x="1809750" y="2054125"/>
            <a:ext cx="266700" cy="276225"/>
          </a:xfrm>
          <a:prstGeom prst="rect">
            <a:avLst/>
          </a:prstGeom>
        </p:spPr>
      </p:pic>
      <p:pic>
        <p:nvPicPr>
          <p:cNvPr id="6" name="Picture 5" descr="image.png"/>
          <p:cNvPicPr>
            <a:picLocks noChangeAspect="1"/>
          </p:cNvPicPr>
          <p:nvPr/>
        </p:nvPicPr>
        <p:blipFill>
          <a:blip r:embed="rId3"/>
          <a:stretch>
            <a:fillRect/>
          </a:stretch>
        </p:blipFill>
        <p:spPr>
          <a:xfrm>
            <a:off x="1809750" y="3297733"/>
            <a:ext cx="266700" cy="276225"/>
          </a:xfrm>
          <a:prstGeom prst="rect">
            <a:avLst/>
          </a:prstGeom>
        </p:spPr>
      </p:pic>
      <p:pic>
        <p:nvPicPr>
          <p:cNvPr id="7" name="Picture 6" descr="image.png"/>
          <p:cNvPicPr>
            <a:picLocks noChangeAspect="1"/>
          </p:cNvPicPr>
          <p:nvPr/>
        </p:nvPicPr>
        <p:blipFill>
          <a:blip r:embed="rId4"/>
          <a:stretch>
            <a:fillRect/>
          </a:stretch>
        </p:blipFill>
        <p:spPr>
          <a:xfrm>
            <a:off x="1809750" y="4541341"/>
            <a:ext cx="304800" cy="276225"/>
          </a:xfrm>
          <a:prstGeom prst="rect">
            <a:avLst/>
          </a:prstGeom>
        </p:spPr>
      </p:pic>
      <p:sp>
        <p:nvSpPr>
          <p:cNvPr id="8" name="TextBox 7"/>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Triển khai Hệ thống Thực tiễn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1504950"/>
            <a:ext cx="11049000" cy="4781550"/>
          </a:xfrm>
          <a:prstGeom prst="rect">
            <a:avLst/>
          </a:prstGeom>
        </p:spPr>
      </p:pic>
      <p:sp>
        <p:nvSpPr>
          <p:cNvPr id="3" name="TextBox 2"/>
          <p:cNvSpPr txBox="1"/>
          <p:nvPr/>
        </p:nvSpPr>
        <p:spPr>
          <a:xfrm>
            <a:off x="571500" y="4614862"/>
            <a:ext cx="11049000" cy="609600"/>
          </a:xfrm>
          <a:prstGeom prst="rect">
            <a:avLst/>
          </a:prstGeom>
          <a:noFill/>
        </p:spPr>
        <p:txBody>
          <a:bodyPr wrap="square" lIns="0" rIns="0" tIns="0" bIns="0" anchor="t">
            <a:spAutoFit/>
          </a:bodyPr>
          <a:lstStyle/>
          <a:p>
            <a:pPr algn="ctr">
              <a:lnSpc>
                <a:spcPts val="2400"/>
              </a:lnSpc>
            </a:pPr>
            <a:r>
              <a:rPr b="0" sz="1500" i="1" u="none">
                <a:solidFill>
                  <a:srgbClr val="333333"/>
                </a:solidFill>
                <a:latin typeface="DM Sans"/>
              </a:rPr>
              <a:t>Mô hình CodeBERT+CNN (Proposed) cho thấy sự vượt trội trong việc cân bằng giữa khả năng nắm bắt ngữ cảnh toàn cục và đặc trưng cục bộ, giúp phân loại chính xác các mẫu CWE-119 và CWE-399.</a:t>
            </a:r>
          </a:p>
        </p:txBody>
      </p:sp>
      <p:sp>
        <p:nvSpPr>
          <p:cNvPr id="4" name="TextBox 3"/>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Đánh giá Hiệu năng Khái quát (F1-Score)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5088"/>
        </a:solidFill>
        <a:effectLst/>
      </p:bgPr>
    </p:bg>
    <p:spTree>
      <p:nvGrpSpPr>
        <p:cNvPr id="1" name=""/>
        <p:cNvGrpSpPr/>
        <p:nvPr/>
      </p:nvGrpSpPr>
      <p:grpSpPr/>
      <p:sp>
        <p:nvSpPr>
          <p:cNvPr id="2" name="TextBox 1"/>
          <p:cNvSpPr txBox="1"/>
          <p:nvPr/>
        </p:nvSpPr>
        <p:spPr>
          <a:xfrm>
            <a:off x="571500" y="2576512"/>
            <a:ext cx="5286375" cy="1428750"/>
          </a:xfrm>
          <a:prstGeom prst="rect">
            <a:avLst/>
          </a:prstGeom>
          <a:noFill/>
        </p:spPr>
        <p:txBody>
          <a:bodyPr wrap="square" lIns="0" rIns="0" tIns="0" bIns="0" anchor="t">
            <a:spAutoFit/>
          </a:bodyPr>
          <a:lstStyle/>
          <a:p>
            <a:pPr algn="ctr">
              <a:lnSpc>
                <a:spcPts val="11250"/>
              </a:lnSpc>
            </a:pPr>
            <a:r>
              <a:rPr b="1" sz="11250" i="0" u="none">
                <a:solidFill>
                  <a:srgbClr val="11CAA0"/>
                </a:solidFill>
                <a:latin typeface="Merriweather"/>
              </a:rPr>
              <a:t>3</a:t>
            </a:r>
          </a:p>
        </p:txBody>
      </p:sp>
      <p:sp>
        <p:nvSpPr>
          <p:cNvPr id="3" name="TextBox 2"/>
          <p:cNvSpPr txBox="1"/>
          <p:nvPr/>
        </p:nvSpPr>
        <p:spPr>
          <a:xfrm>
            <a:off x="571500" y="4100512"/>
            <a:ext cx="5286375" cy="295275"/>
          </a:xfrm>
          <a:prstGeom prst="rect">
            <a:avLst/>
          </a:prstGeom>
          <a:noFill/>
        </p:spPr>
        <p:txBody>
          <a:bodyPr wrap="square" lIns="0" rIns="0" tIns="0" bIns="0" anchor="t">
            <a:spAutoFit/>
          </a:bodyPr>
          <a:lstStyle/>
          <a:p>
            <a:pPr algn="ctr"/>
            <a:r>
              <a:rPr b="1" sz="1800" i="0" u="none">
                <a:solidFill>
                  <a:srgbClr val="F3F0DF"/>
                </a:solidFill>
                <a:latin typeface="DM Sans"/>
              </a:rPr>
              <a:t>Lớp Phân Loại</a:t>
            </a:r>
          </a:p>
        </p:txBody>
      </p:sp>
      <p:sp>
        <p:nvSpPr>
          <p:cNvPr id="4" name="TextBox 3"/>
          <p:cNvSpPr txBox="1"/>
          <p:nvPr/>
        </p:nvSpPr>
        <p:spPr>
          <a:xfrm>
            <a:off x="6334125" y="2576512"/>
            <a:ext cx="5550693" cy="381000"/>
          </a:xfrm>
          <a:prstGeom prst="rect">
            <a:avLst/>
          </a:prstGeom>
          <a:noFill/>
        </p:spPr>
        <p:txBody>
          <a:bodyPr wrap="square" lIns="0" rIns="0" tIns="0" bIns="0" anchor="t">
            <a:spAutoFit/>
          </a:bodyPr>
          <a:lstStyle/>
          <a:p>
            <a:pPr algn="l"/>
            <a:r>
              <a:rPr b="1" sz="2400" i="0" u="none">
                <a:solidFill>
                  <a:srgbClr val="11CAA0"/>
                </a:solidFill>
                <a:latin typeface="Merriweather"/>
              </a:rPr>
              <a:t>Từ Nhị phân đến Đa lớp</a:t>
            </a:r>
          </a:p>
        </p:txBody>
      </p:sp>
      <p:sp>
        <p:nvSpPr>
          <p:cNvPr id="5" name="TextBox 4"/>
          <p:cNvSpPr txBox="1"/>
          <p:nvPr/>
        </p:nvSpPr>
        <p:spPr>
          <a:xfrm>
            <a:off x="6334125" y="3100387"/>
            <a:ext cx="5286375" cy="1219200"/>
          </a:xfrm>
          <a:prstGeom prst="rect">
            <a:avLst/>
          </a:prstGeom>
          <a:noFill/>
        </p:spPr>
        <p:txBody>
          <a:bodyPr wrap="square" lIns="0" rIns="0" tIns="0" bIns="0" anchor="t">
            <a:spAutoFit/>
          </a:bodyPr>
          <a:lstStyle/>
          <a:p>
            <a:pPr algn="l">
              <a:lnSpc>
                <a:spcPts val="2400"/>
              </a:lnSpc>
            </a:pPr>
            <a:r>
              <a:rPr b="0" sz="1500" i="0" u="none">
                <a:solidFill>
                  <a:srgbClr val="FFFFFF"/>
                </a:solidFill>
                <a:latin typeface="DM Sans"/>
              </a:rPr>
              <a:t>Đóng góp khoa học lớn nhất là vượt qua rào cản cảnh báo "Safe/Unsafe" thông thường. Hệ thống phân biệt rõ bản chất lỗi để hỗ trợ nhà phát triển đưa ra chiến lược vá lỗi chính xác hơn.</a:t>
            </a:r>
          </a:p>
        </p:txBody>
      </p:sp>
      <p:sp>
        <p:nvSpPr>
          <p:cNvPr id="6" name="TextBox 5"/>
          <p:cNvSpPr txBox="1"/>
          <p:nvPr/>
        </p:nvSpPr>
        <p:spPr>
          <a:xfrm>
            <a:off x="6334125" y="4462462"/>
            <a:ext cx="5286375" cy="609600"/>
          </a:xfrm>
          <a:prstGeom prst="rect">
            <a:avLst/>
          </a:prstGeom>
          <a:noFill/>
        </p:spPr>
        <p:txBody>
          <a:bodyPr wrap="square" lIns="0" rIns="0" tIns="0" bIns="0" anchor="t">
            <a:spAutoFit/>
          </a:bodyPr>
          <a:lstStyle/>
          <a:p>
            <a:pPr algn="l">
              <a:lnSpc>
                <a:spcPts val="2400"/>
              </a:lnSpc>
            </a:pPr>
            <a:r>
              <a:rPr b="0" sz="1500" i="0" u="none">
                <a:solidFill>
                  <a:srgbClr val="FFFFFF"/>
                </a:solidFill>
                <a:latin typeface="DM Sans"/>
              </a:rPr>
              <a:t>Đồng thời chứng minh tính khả thi của một Pipeline học sâu toàn diện trên tài nguyên giới hạn (Mini Dataset 9.000 mẫu).</a:t>
            </a:r>
          </a:p>
        </p:txBody>
      </p:sp>
      <p:sp>
        <p:nvSpPr>
          <p:cNvPr id="7" name="TextBox 6"/>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F3F0DF"/>
                </a:solidFill>
                <a:latin typeface="Merriweather"/>
              </a:rPr>
              <a:t>Tổng kết Đóng góp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sp>
        <p:nvSpPr>
          <p:cNvPr id="2" name="Rectangle 1"/>
          <p:cNvSpPr/>
          <p:nvPr/>
        </p:nvSpPr>
        <p:spPr>
          <a:xfrm>
            <a:off x="571500" y="4114800"/>
            <a:ext cx="11049000" cy="3810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8632" y="4467225"/>
            <a:ext cx="3480435" cy="266700"/>
          </a:xfrm>
          <a:prstGeom prst="rect">
            <a:avLst/>
          </a:prstGeom>
          <a:noFill/>
        </p:spPr>
        <p:txBody>
          <a:bodyPr wrap="square" lIns="0" rIns="0" tIns="0" bIns="0" anchor="t">
            <a:spAutoFit/>
          </a:bodyPr>
          <a:lstStyle/>
          <a:p>
            <a:pPr algn="ctr"/>
            <a:r>
              <a:rPr b="1" sz="1650" i="0" u="none">
                <a:solidFill>
                  <a:srgbClr val="005088"/>
                </a:solidFill>
                <a:latin typeface="Merriweather"/>
              </a:rPr>
              <a:t>1. Dữ liệu</a:t>
            </a:r>
          </a:p>
        </p:txBody>
      </p:sp>
      <p:sp>
        <p:nvSpPr>
          <p:cNvPr id="4" name="TextBox 3"/>
          <p:cNvSpPr txBox="1"/>
          <p:nvPr/>
        </p:nvSpPr>
        <p:spPr>
          <a:xfrm>
            <a:off x="571500" y="4876800"/>
            <a:ext cx="3314700" cy="731341"/>
          </a:xfrm>
          <a:prstGeom prst="rect">
            <a:avLst/>
          </a:prstGeom>
          <a:noFill/>
        </p:spPr>
        <p:txBody>
          <a:bodyPr wrap="square" lIns="0" rIns="0" tIns="0" bIns="0" anchor="t">
            <a:spAutoFit/>
          </a:bodyPr>
          <a:lstStyle/>
          <a:p>
            <a:pPr algn="ctr">
              <a:lnSpc>
                <a:spcPts val="1920"/>
              </a:lnSpc>
            </a:pPr>
            <a:r>
              <a:rPr b="0" sz="1200" i="0" u="none">
                <a:solidFill>
                  <a:srgbClr val="333333"/>
                </a:solidFill>
                <a:latin typeface="DM Sans"/>
              </a:rPr>
              <a:t>Mở rộng quy mô tập dữ liệu, áp dụng các kỹ thuật Chunking và Token hóa tùy chỉnh để tăng độ tổng quát hóa.</a:t>
            </a:r>
          </a:p>
        </p:txBody>
      </p:sp>
      <p:sp>
        <p:nvSpPr>
          <p:cNvPr id="5" name="TextBox 4"/>
          <p:cNvSpPr txBox="1"/>
          <p:nvPr/>
        </p:nvSpPr>
        <p:spPr>
          <a:xfrm>
            <a:off x="4355782" y="2516683"/>
            <a:ext cx="3480435" cy="266700"/>
          </a:xfrm>
          <a:prstGeom prst="rect">
            <a:avLst/>
          </a:prstGeom>
          <a:noFill/>
        </p:spPr>
        <p:txBody>
          <a:bodyPr wrap="square" lIns="0" rIns="0" tIns="0" bIns="0" anchor="t">
            <a:spAutoFit/>
          </a:bodyPr>
          <a:lstStyle/>
          <a:p>
            <a:pPr algn="ctr"/>
            <a:r>
              <a:rPr b="1" sz="1650" i="0" u="none">
                <a:solidFill>
                  <a:srgbClr val="005088"/>
                </a:solidFill>
                <a:latin typeface="Merriweather"/>
              </a:rPr>
              <a:t>2. Kiến trúc</a:t>
            </a:r>
          </a:p>
        </p:txBody>
      </p:sp>
      <p:sp>
        <p:nvSpPr>
          <p:cNvPr id="6" name="TextBox 5"/>
          <p:cNvSpPr txBox="1"/>
          <p:nvPr/>
        </p:nvSpPr>
        <p:spPr>
          <a:xfrm>
            <a:off x="4438650" y="2926258"/>
            <a:ext cx="3314700" cy="731341"/>
          </a:xfrm>
          <a:prstGeom prst="rect">
            <a:avLst/>
          </a:prstGeom>
          <a:noFill/>
        </p:spPr>
        <p:txBody>
          <a:bodyPr wrap="square" lIns="0" rIns="0" tIns="0" bIns="0" anchor="t">
            <a:spAutoFit/>
          </a:bodyPr>
          <a:lstStyle/>
          <a:p>
            <a:pPr algn="ctr">
              <a:lnSpc>
                <a:spcPts val="1920"/>
              </a:lnSpc>
            </a:pPr>
            <a:r>
              <a:rPr b="0" sz="1200" i="0" u="none">
                <a:solidFill>
                  <a:srgbClr val="333333"/>
                </a:solidFill>
                <a:latin typeface="DM Sans"/>
              </a:rPr>
              <a:t>Tích hợp Đồ thị luồng dữ liệu (Data-flow graph) và Graph Neural Networks (GNN) để phân tích cấu trúc phức tạp hơn.</a:t>
            </a:r>
          </a:p>
        </p:txBody>
      </p:sp>
      <p:sp>
        <p:nvSpPr>
          <p:cNvPr id="7" name="TextBox 6"/>
          <p:cNvSpPr txBox="1"/>
          <p:nvPr/>
        </p:nvSpPr>
        <p:spPr>
          <a:xfrm>
            <a:off x="8222932" y="4467225"/>
            <a:ext cx="3480435" cy="266700"/>
          </a:xfrm>
          <a:prstGeom prst="rect">
            <a:avLst/>
          </a:prstGeom>
          <a:noFill/>
        </p:spPr>
        <p:txBody>
          <a:bodyPr wrap="square" lIns="0" rIns="0" tIns="0" bIns="0" anchor="t">
            <a:spAutoFit/>
          </a:bodyPr>
          <a:lstStyle/>
          <a:p>
            <a:pPr algn="ctr"/>
            <a:r>
              <a:rPr b="1" sz="1650" i="0" u="none">
                <a:solidFill>
                  <a:srgbClr val="005088"/>
                </a:solidFill>
                <a:latin typeface="Merriweather"/>
              </a:rPr>
              <a:t>3. Vá lỗi Tự động</a:t>
            </a:r>
          </a:p>
        </p:txBody>
      </p:sp>
      <p:sp>
        <p:nvSpPr>
          <p:cNvPr id="8" name="TextBox 7"/>
          <p:cNvSpPr txBox="1"/>
          <p:nvPr/>
        </p:nvSpPr>
        <p:spPr>
          <a:xfrm>
            <a:off x="8305800" y="4876800"/>
            <a:ext cx="3314700" cy="731341"/>
          </a:xfrm>
          <a:prstGeom prst="rect">
            <a:avLst/>
          </a:prstGeom>
          <a:noFill/>
        </p:spPr>
        <p:txBody>
          <a:bodyPr wrap="square" lIns="0" rIns="0" tIns="0" bIns="0" anchor="t">
            <a:spAutoFit/>
          </a:bodyPr>
          <a:lstStyle/>
          <a:p>
            <a:pPr algn="ctr">
              <a:lnSpc>
                <a:spcPts val="1920"/>
              </a:lnSpc>
            </a:pPr>
            <a:r>
              <a:rPr b="0" sz="1200" i="0" u="none">
                <a:solidFill>
                  <a:srgbClr val="333333"/>
                </a:solidFill>
                <a:latin typeface="DM Sans"/>
              </a:rPr>
              <a:t>Phát triển tính năng không chỉ phát hiện mà còn đề xuất các biện pháp vá lỗi (Automated Program Repair).</a:t>
            </a:r>
          </a:p>
        </p:txBody>
      </p:sp>
      <p:sp>
        <p:nvSpPr>
          <p:cNvPr id="9" name="Rounded Rectangle 8"/>
          <p:cNvSpPr/>
          <p:nvPr/>
        </p:nvSpPr>
        <p:spPr>
          <a:xfrm>
            <a:off x="2114550" y="4019550"/>
            <a:ext cx="228600" cy="228600"/>
          </a:xfrm>
          <a:prstGeom prst="roundRect">
            <a:avLst>
              <a:gd name="adj" fmla="val 50000"/>
            </a:avLst>
          </a:prstGeom>
          <a:solidFill>
            <a:srgbClr val="FFFFFF"/>
          </a:solidFill>
          <a:ln w="38100">
            <a:solidFill>
              <a:srgbClr val="11CA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81700" y="4019550"/>
            <a:ext cx="228600" cy="228600"/>
          </a:xfrm>
          <a:prstGeom prst="roundRect">
            <a:avLst>
              <a:gd name="adj" fmla="val 50000"/>
            </a:avLst>
          </a:prstGeom>
          <a:solidFill>
            <a:srgbClr val="FFFFFF"/>
          </a:solidFill>
          <a:ln w="38100">
            <a:solidFill>
              <a:srgbClr val="11CA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850" y="4019550"/>
            <a:ext cx="228600" cy="228600"/>
          </a:xfrm>
          <a:prstGeom prst="roundRect">
            <a:avLst>
              <a:gd name="adj" fmla="val 50000"/>
            </a:avLst>
          </a:prstGeom>
          <a:solidFill>
            <a:srgbClr val="FFFFFF"/>
          </a:solidFill>
          <a:ln w="38100">
            <a:solidFill>
              <a:srgbClr val="11CA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Định hướng Phát triển Tương lai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5088"/>
        </a:solidFill>
        <a:effectLst/>
      </p:bgPr>
    </p:bg>
    <p:spTree>
      <p:nvGrpSpPr>
        <p:cNvPr id="1" name=""/>
        <p:cNvGrpSpPr/>
        <p:nvPr/>
      </p:nvGrpSpPr>
      <p:grpSpPr/>
      <p:sp>
        <p:nvSpPr>
          <p:cNvPr id="2" name="TextBox 1"/>
          <p:cNvSpPr txBox="1"/>
          <p:nvPr/>
        </p:nvSpPr>
        <p:spPr>
          <a:xfrm>
            <a:off x="295275" y="1874490"/>
            <a:ext cx="11601450" cy="1924050"/>
          </a:xfrm>
          <a:prstGeom prst="rect">
            <a:avLst/>
          </a:prstGeom>
          <a:noFill/>
        </p:spPr>
        <p:txBody>
          <a:bodyPr wrap="square" lIns="0" rIns="0" tIns="0" bIns="0" anchor="t">
            <a:spAutoFit/>
          </a:bodyPr>
          <a:lstStyle/>
          <a:p>
            <a:pPr algn="ctr"/>
            <a:r>
              <a:rPr b="1" sz="6000" i="0" u="none">
                <a:solidFill>
                  <a:srgbClr val="11CAA0"/>
                </a:solidFill>
                <a:latin typeface="Merriweather"/>
              </a:rPr>
              <a:t>Cảm ơn Quý Thầy Cô đã lắng nghe!</a:t>
            </a:r>
          </a:p>
        </p:txBody>
      </p:sp>
      <p:sp>
        <p:nvSpPr>
          <p:cNvPr id="3" name="TextBox 2"/>
          <p:cNvSpPr txBox="1"/>
          <p:nvPr/>
        </p:nvSpPr>
        <p:spPr>
          <a:xfrm>
            <a:off x="571500" y="3989040"/>
            <a:ext cx="11049000" cy="365670"/>
          </a:xfrm>
          <a:prstGeom prst="rect">
            <a:avLst/>
          </a:prstGeom>
          <a:noFill/>
        </p:spPr>
        <p:txBody>
          <a:bodyPr wrap="square" lIns="0" rIns="0" tIns="0" bIns="0" anchor="t">
            <a:spAutoFit/>
          </a:bodyPr>
          <a:lstStyle/>
          <a:p>
            <a:pPr algn="ctr">
              <a:lnSpc>
                <a:spcPts val="2879"/>
              </a:lnSpc>
            </a:pPr>
            <a:r>
              <a:rPr b="0" sz="1800" i="0" u="none">
                <a:solidFill>
                  <a:srgbClr val="FFFFFF"/>
                </a:solidFill>
                <a:latin typeface="DM Sans"/>
              </a:rPr>
              <a:t>Phần Trình bày Tiểu luận xin phép được kết thúc.</a:t>
            </a:r>
          </a:p>
        </p:txBody>
      </p:sp>
      <p:sp>
        <p:nvSpPr>
          <p:cNvPr id="4" name="TextBox 3"/>
          <p:cNvSpPr txBox="1"/>
          <p:nvPr/>
        </p:nvSpPr>
        <p:spPr>
          <a:xfrm>
            <a:off x="571500" y="4735710"/>
            <a:ext cx="11049000" cy="247650"/>
          </a:xfrm>
          <a:prstGeom prst="rect">
            <a:avLst/>
          </a:prstGeom>
          <a:noFill/>
        </p:spPr>
        <p:txBody>
          <a:bodyPr wrap="square" lIns="0" rIns="0" tIns="0" bIns="0" anchor="t">
            <a:spAutoFit/>
          </a:bodyPr>
          <a:lstStyle/>
          <a:p>
            <a:pPr algn="ctr"/>
            <a:r>
              <a:rPr b="0" sz="1500" i="0" u="none">
                <a:solidFill>
                  <a:srgbClr val="F3F0DF"/>
                </a:solidFill>
                <a:latin typeface="DM Sans"/>
              </a:rPr>
              <a:t>Học viên: Hồ Ngọc Tài | Lớp: 25SCT22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0DF"/>
        </a:solidFill>
        <a:effectLst/>
      </p:bgPr>
    </p:bg>
    <p:spTree>
      <p:nvGrpSpPr>
        <p:cNvPr id="1" name=""/>
        <p:cNvGrpSpPr/>
        <p:nvPr/>
      </p:nvGrpSpPr>
      <p:grpSpPr/>
      <p:sp>
        <p:nvSpPr>
          <p:cNvPr id="2" name="Rectangle 1"/>
          <p:cNvSpPr/>
          <p:nvPr/>
        </p:nvSpPr>
        <p:spPr>
          <a:xfrm>
            <a:off x="571500" y="2132855"/>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3115716"/>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4098577"/>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106191"/>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3106191"/>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408905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408905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48738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 y="48738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571500" y="2381398"/>
            <a:ext cx="857250" cy="476250"/>
          </a:xfrm>
          <a:prstGeom prst="rect">
            <a:avLst/>
          </a:prstGeom>
        </p:spPr>
      </p:pic>
      <p:sp>
        <p:nvSpPr>
          <p:cNvPr id="12" name="TextBox 11"/>
          <p:cNvSpPr txBox="1"/>
          <p:nvPr/>
        </p:nvSpPr>
        <p:spPr>
          <a:xfrm>
            <a:off x="1666875" y="2275730"/>
            <a:ext cx="9953625" cy="396180"/>
          </a:xfrm>
          <a:prstGeom prst="rect">
            <a:avLst/>
          </a:prstGeom>
          <a:noFill/>
        </p:spPr>
        <p:txBody>
          <a:bodyPr wrap="square" lIns="0" rIns="0" tIns="0" bIns="0" anchor="t">
            <a:spAutoFit/>
          </a:bodyPr>
          <a:lstStyle/>
          <a:p>
            <a:pPr algn="l">
              <a:lnSpc>
                <a:spcPts val="1560"/>
              </a:lnSpc>
            </a:pPr>
            <a:r>
              <a:rPr b="0" sz="975" i="0" u="none">
                <a:solidFill>
                  <a:srgbClr val="333333"/>
                </a:solidFill>
                <a:latin typeface="DM Sans"/>
              </a:rPr>
              <a:t>https://elements-resized.envatousercontent.com/elements-video-cover-images/11fb7c8f-0f83-41d5-9f35-ce65200ddcd1/video_preview/video_preview_0000.jpg?w=500&amp;cf_fit=cover&amp;q=85&amp;format=auto&amp;s=6b92ff46ced8207d4411bc3017cb6d65afddbeb8ae153a830548e377165b3f91</a:t>
            </a:r>
          </a:p>
        </p:txBody>
      </p:sp>
      <p:sp>
        <p:nvSpPr>
          <p:cNvPr id="13" name="TextBox 12"/>
          <p:cNvSpPr txBox="1"/>
          <p:nvPr/>
        </p:nvSpPr>
        <p:spPr>
          <a:xfrm>
            <a:off x="1666875" y="2719536"/>
            <a:ext cx="9953625" cy="243780"/>
          </a:xfrm>
          <a:prstGeom prst="rect">
            <a:avLst/>
          </a:prstGeom>
          <a:noFill/>
        </p:spPr>
        <p:txBody>
          <a:bodyPr wrap="square" lIns="0" rIns="0" tIns="0" bIns="0" anchor="t">
            <a:spAutoFit/>
          </a:bodyPr>
          <a:lstStyle/>
          <a:p>
            <a:pPr algn="l">
              <a:lnSpc>
                <a:spcPts val="1920"/>
              </a:lnSpc>
            </a:pPr>
            <a:r>
              <a:rPr b="0" sz="1200" i="0" u="none">
                <a:solidFill>
                  <a:srgbClr val="333333"/>
                </a:solidFill>
                <a:latin typeface="DM Sans"/>
              </a:rPr>
              <a:t>Source: </a:t>
            </a:r>
            <a:r>
              <a:rPr b="0" sz="1200" i="0" u="none">
                <a:solidFill>
                  <a:srgbClr val="4F46E5"/>
                </a:solidFill>
                <a:latin typeface="DM Sans"/>
              </a:rPr>
              <a:t>elements.envato.com</a:t>
            </a:r>
          </a:p>
        </p:txBody>
      </p:sp>
      <p:pic>
        <p:nvPicPr>
          <p:cNvPr id="14" name="Picture 13" descr="image.png"/>
          <p:cNvPicPr>
            <a:picLocks noChangeAspect="1"/>
          </p:cNvPicPr>
          <p:nvPr/>
        </p:nvPicPr>
        <p:blipFill>
          <a:blip r:embed="rId3"/>
          <a:stretch>
            <a:fillRect/>
          </a:stretch>
        </p:blipFill>
        <p:spPr>
          <a:xfrm>
            <a:off x="571500" y="3364259"/>
            <a:ext cx="857250" cy="476250"/>
          </a:xfrm>
          <a:prstGeom prst="rect">
            <a:avLst/>
          </a:prstGeom>
        </p:spPr>
      </p:pic>
      <p:sp>
        <p:nvSpPr>
          <p:cNvPr id="15" name="TextBox 14"/>
          <p:cNvSpPr txBox="1"/>
          <p:nvPr/>
        </p:nvSpPr>
        <p:spPr>
          <a:xfrm>
            <a:off x="1666875" y="3258591"/>
            <a:ext cx="9953625" cy="396180"/>
          </a:xfrm>
          <a:prstGeom prst="rect">
            <a:avLst/>
          </a:prstGeom>
          <a:noFill/>
        </p:spPr>
        <p:txBody>
          <a:bodyPr wrap="square" lIns="0" rIns="0" tIns="0" bIns="0" anchor="t">
            <a:spAutoFit/>
          </a:bodyPr>
          <a:lstStyle/>
          <a:p>
            <a:pPr algn="l">
              <a:lnSpc>
                <a:spcPts val="1560"/>
              </a:lnSpc>
            </a:pPr>
            <a:r>
              <a:rPr b="0" sz="975" i="0" u="none">
                <a:solidFill>
                  <a:srgbClr val="333333"/>
                </a:solidFill>
                <a:latin typeface="DM Sans"/>
              </a:rPr>
              <a:t>https://static.vecteezy.com/system/resources/thumbnails/078/040/730/small/artificial-intelligence-technology-icons-set-collectionartificial-intelligence-technology-icons-set-collection-free-vector.jpg</a:t>
            </a:r>
          </a:p>
        </p:txBody>
      </p:sp>
      <p:sp>
        <p:nvSpPr>
          <p:cNvPr id="16" name="TextBox 15"/>
          <p:cNvSpPr txBox="1"/>
          <p:nvPr/>
        </p:nvSpPr>
        <p:spPr>
          <a:xfrm>
            <a:off x="1666875" y="3702397"/>
            <a:ext cx="9953625" cy="243780"/>
          </a:xfrm>
          <a:prstGeom prst="rect">
            <a:avLst/>
          </a:prstGeom>
          <a:noFill/>
        </p:spPr>
        <p:txBody>
          <a:bodyPr wrap="square" lIns="0" rIns="0" tIns="0" bIns="0" anchor="t">
            <a:spAutoFit/>
          </a:bodyPr>
          <a:lstStyle/>
          <a:p>
            <a:pPr algn="l">
              <a:lnSpc>
                <a:spcPts val="1920"/>
              </a:lnSpc>
            </a:pPr>
            <a:r>
              <a:rPr b="0" sz="1200" i="0" u="none">
                <a:solidFill>
                  <a:srgbClr val="333333"/>
                </a:solidFill>
                <a:latin typeface="DM Sans"/>
              </a:rPr>
              <a:t>Source: </a:t>
            </a:r>
            <a:r>
              <a:rPr b="0" sz="1200" i="0" u="none">
                <a:solidFill>
                  <a:srgbClr val="4F46E5"/>
                </a:solidFill>
                <a:latin typeface="DM Sans"/>
              </a:rPr>
              <a:t>www.vecteezy.com</a:t>
            </a:r>
          </a:p>
        </p:txBody>
      </p:sp>
      <p:pic>
        <p:nvPicPr>
          <p:cNvPr id="17" name="Picture 16" descr="image.png"/>
          <p:cNvPicPr>
            <a:picLocks noChangeAspect="1"/>
          </p:cNvPicPr>
          <p:nvPr/>
        </p:nvPicPr>
        <p:blipFill>
          <a:blip r:embed="rId4"/>
          <a:stretch>
            <a:fillRect/>
          </a:stretch>
        </p:blipFill>
        <p:spPr>
          <a:xfrm>
            <a:off x="571500" y="4248001"/>
            <a:ext cx="857250" cy="476250"/>
          </a:xfrm>
          <a:prstGeom prst="rect">
            <a:avLst/>
          </a:prstGeom>
        </p:spPr>
      </p:pic>
      <p:sp>
        <p:nvSpPr>
          <p:cNvPr id="18" name="TextBox 17"/>
          <p:cNvSpPr txBox="1"/>
          <p:nvPr/>
        </p:nvSpPr>
        <p:spPr>
          <a:xfrm>
            <a:off x="1666875" y="4241452"/>
            <a:ext cx="9953625" cy="198090"/>
          </a:xfrm>
          <a:prstGeom prst="rect">
            <a:avLst/>
          </a:prstGeom>
          <a:noFill/>
        </p:spPr>
        <p:txBody>
          <a:bodyPr wrap="square" lIns="0" rIns="0" tIns="0" bIns="0" anchor="t">
            <a:spAutoFit/>
          </a:bodyPr>
          <a:lstStyle/>
          <a:p>
            <a:pPr algn="l">
              <a:lnSpc>
                <a:spcPts val="1560"/>
              </a:lnSpc>
            </a:pPr>
            <a:r>
              <a:rPr b="0" sz="975" i="0" u="none">
                <a:solidFill>
                  <a:srgbClr val="333333"/>
                </a:solidFill>
                <a:latin typeface="DM Sans"/>
              </a:rPr>
              <a:t>https://www.mdpi.com/make/make-08-00152/article_deploy/html/images/make-08-00152-g001.png</a:t>
            </a:r>
          </a:p>
        </p:txBody>
      </p:sp>
      <p:sp>
        <p:nvSpPr>
          <p:cNvPr id="19" name="TextBox 18"/>
          <p:cNvSpPr txBox="1"/>
          <p:nvPr/>
        </p:nvSpPr>
        <p:spPr>
          <a:xfrm>
            <a:off x="1666875" y="4487167"/>
            <a:ext cx="9953625" cy="243780"/>
          </a:xfrm>
          <a:prstGeom prst="rect">
            <a:avLst/>
          </a:prstGeom>
          <a:noFill/>
        </p:spPr>
        <p:txBody>
          <a:bodyPr wrap="square" lIns="0" rIns="0" tIns="0" bIns="0" anchor="t">
            <a:spAutoFit/>
          </a:bodyPr>
          <a:lstStyle/>
          <a:p>
            <a:pPr algn="l">
              <a:lnSpc>
                <a:spcPts val="1920"/>
              </a:lnSpc>
            </a:pPr>
            <a:r>
              <a:rPr b="0" sz="1200" i="0" u="none">
                <a:solidFill>
                  <a:srgbClr val="333333"/>
                </a:solidFill>
                <a:latin typeface="DM Sans"/>
              </a:rPr>
              <a:t>Source: </a:t>
            </a:r>
            <a:r>
              <a:rPr b="0" sz="1200" i="0" u="none">
                <a:solidFill>
                  <a:srgbClr val="4F46E5"/>
                </a:solidFill>
                <a:latin typeface="DM Sans"/>
              </a:rPr>
              <a:t>www.mdpi.com</a:t>
            </a:r>
          </a:p>
        </p:txBody>
      </p:sp>
      <p:pic>
        <p:nvPicPr>
          <p:cNvPr id="20" name="Picture 19" descr="image.png"/>
          <p:cNvPicPr>
            <a:picLocks noChangeAspect="1"/>
          </p:cNvPicPr>
          <p:nvPr/>
        </p:nvPicPr>
        <p:blipFill>
          <a:blip r:embed="rId5"/>
          <a:stretch>
            <a:fillRect/>
          </a:stretch>
        </p:blipFill>
        <p:spPr>
          <a:xfrm>
            <a:off x="571500" y="5032771"/>
            <a:ext cx="857250" cy="476250"/>
          </a:xfrm>
          <a:prstGeom prst="rect">
            <a:avLst/>
          </a:prstGeom>
        </p:spPr>
      </p:pic>
      <p:sp>
        <p:nvSpPr>
          <p:cNvPr id="21" name="TextBox 20"/>
          <p:cNvSpPr txBox="1"/>
          <p:nvPr/>
        </p:nvSpPr>
        <p:spPr>
          <a:xfrm>
            <a:off x="1666875" y="5026223"/>
            <a:ext cx="9953625" cy="198090"/>
          </a:xfrm>
          <a:prstGeom prst="rect">
            <a:avLst/>
          </a:prstGeom>
          <a:noFill/>
        </p:spPr>
        <p:txBody>
          <a:bodyPr wrap="square" lIns="0" rIns="0" tIns="0" bIns="0" anchor="t">
            <a:spAutoFit/>
          </a:bodyPr>
          <a:lstStyle/>
          <a:p>
            <a:pPr algn="l">
              <a:lnSpc>
                <a:spcPts val="1560"/>
              </a:lnSpc>
            </a:pPr>
            <a:r>
              <a:rPr b="0" sz="975" i="0" u="none">
                <a:solidFill>
                  <a:srgbClr val="333333"/>
                </a:solidFill>
                <a:latin typeface="DM Sans"/>
              </a:rPr>
              <a:t>https://miro.medium.com/v2/resize:fit:1200/1*RVJ_8zlW2LMchtzKp8nUtw.png</a:t>
            </a:r>
          </a:p>
        </p:txBody>
      </p:sp>
      <p:sp>
        <p:nvSpPr>
          <p:cNvPr id="22" name="TextBox 21"/>
          <p:cNvSpPr txBox="1"/>
          <p:nvPr/>
        </p:nvSpPr>
        <p:spPr>
          <a:xfrm>
            <a:off x="1666875" y="5271938"/>
            <a:ext cx="9953625" cy="243780"/>
          </a:xfrm>
          <a:prstGeom prst="rect">
            <a:avLst/>
          </a:prstGeom>
          <a:noFill/>
        </p:spPr>
        <p:txBody>
          <a:bodyPr wrap="square" lIns="0" rIns="0" tIns="0" bIns="0" anchor="t">
            <a:spAutoFit/>
          </a:bodyPr>
          <a:lstStyle/>
          <a:p>
            <a:pPr algn="l">
              <a:lnSpc>
                <a:spcPts val="1920"/>
              </a:lnSpc>
            </a:pPr>
            <a:r>
              <a:rPr b="0" sz="1200" i="0" u="none">
                <a:solidFill>
                  <a:srgbClr val="333333"/>
                </a:solidFill>
                <a:latin typeface="DM Sans"/>
              </a:rPr>
              <a:t>Source: </a:t>
            </a:r>
            <a:r>
              <a:rPr b="0" sz="1200" i="0" u="none">
                <a:solidFill>
                  <a:srgbClr val="4F46E5"/>
                </a:solidFill>
                <a:latin typeface="DM Sans"/>
              </a:rPr>
              <a:t>medium.com</a:t>
            </a:r>
          </a:p>
        </p:txBody>
      </p:sp>
      <p:sp>
        <p:nvSpPr>
          <p:cNvPr id="23" name="TextBox 22"/>
          <p:cNvSpPr txBox="1"/>
          <p:nvPr/>
        </p:nvSpPr>
        <p:spPr>
          <a:xfrm>
            <a:off x="571500" y="571500"/>
            <a:ext cx="11601450" cy="552450"/>
          </a:xfrm>
          <a:prstGeom prst="rect">
            <a:avLst/>
          </a:prstGeom>
          <a:noFill/>
        </p:spPr>
        <p:txBody>
          <a:bodyPr wrap="square" lIns="0" rIns="0" tIns="0" bIns="0" anchor="t">
            <a:spAutoFit/>
          </a:bodyPr>
          <a:lstStyle/>
          <a:p>
            <a:pPr algn="l"/>
            <a:r>
              <a:rPr b="1" sz="3450" i="0" u="none">
                <a:solidFill>
                  <a:srgbClr val="005088"/>
                </a:solidFill>
                <a:latin typeface="Merriweather"/>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